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56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77143" autoAdjust="0"/>
  </p:normalViewPr>
  <p:slideViewPr>
    <p:cSldViewPr snapToGrid="0">
      <p:cViewPr varScale="1">
        <p:scale>
          <a:sx n="76" d="100"/>
          <a:sy n="76" d="100"/>
        </p:scale>
        <p:origin x="126" y="246"/>
      </p:cViewPr>
      <p:guideLst/>
    </p:cSldViewPr>
  </p:slideViewPr>
  <p:notesTextViewPr>
    <p:cViewPr>
      <p:scale>
        <a:sx n="1" d="1"/>
        <a:sy n="1" d="1"/>
      </p:scale>
      <p:origin x="0" y="-304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A970B6-FE3A-44A0-964A-C15E09CB12D4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C7A54-757C-4375-B963-8BC9A70CF4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874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&gt; m1&lt;-</a:t>
            </a:r>
            <a:r>
              <a:rPr lang="en-US" altLang="ko-KR" dirty="0" err="1" smtClean="0"/>
              <a:t>model.matrix</a:t>
            </a:r>
            <a:r>
              <a:rPr lang="en-US" altLang="ko-KR" dirty="0" smtClean="0"/>
              <a:t>(~grouptype+AGE+SEX+G1E_BMI+income</a:t>
            </a:r>
          </a:p>
          <a:p>
            <a:r>
              <a:rPr lang="en-US" altLang="ko-KR" dirty="0" smtClean="0"/>
              <a:t>+                  +cci_group+activity+non_small_yn+SEER_GRP+surgery_yn+radio_yn+system_yn,data=data1)[,-1]</a:t>
            </a:r>
          </a:p>
          <a:p>
            <a:r>
              <a:rPr lang="en-US" altLang="ko-KR" dirty="0" smtClean="0"/>
              <a:t>&gt; crr1_1_1 &lt;- </a:t>
            </a:r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=data1$day_diff,fstatus=data1$dth_type,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=0, cov1=m1,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=1)</a:t>
            </a:r>
          </a:p>
          <a:p>
            <a:r>
              <a:rPr lang="en-US" altLang="ko-KR" dirty="0" smtClean="0"/>
              <a:t>&gt; summary(crr1_1_1)</a:t>
            </a:r>
          </a:p>
          <a:p>
            <a:r>
              <a:rPr lang="en-US" altLang="ko-KR" dirty="0" smtClean="0"/>
              <a:t>Competing Risks Regression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Call:</a:t>
            </a:r>
          </a:p>
          <a:p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 = data1$day_diff, </a:t>
            </a:r>
            <a:r>
              <a:rPr lang="en-US" altLang="ko-KR" dirty="0" err="1" smtClean="0"/>
              <a:t>fstatus</a:t>
            </a:r>
            <a:r>
              <a:rPr lang="en-US" altLang="ko-KR" dirty="0" smtClean="0"/>
              <a:t> = data1$dth_type, cov1 = m1, 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 = 1,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 = 0)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se(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    z p-value</a:t>
            </a:r>
          </a:p>
          <a:p>
            <a:r>
              <a:rPr lang="en-US" altLang="ko-KR" dirty="0" smtClean="0"/>
              <a:t>grouptype003   -0.1518     0.859 0.014514 -10.46 0.0e+00</a:t>
            </a:r>
          </a:p>
          <a:p>
            <a:r>
              <a:rPr lang="en-US" altLang="ko-KR" dirty="0" smtClean="0"/>
              <a:t>grouptype002   -0.0418     0.959 0.014575  -2.87 4.2e-03</a:t>
            </a:r>
          </a:p>
          <a:p>
            <a:r>
              <a:rPr lang="en-US" altLang="ko-KR" dirty="0" smtClean="0"/>
              <a:t>AGE             0.0335     1.034 0.000712  47.03 0.0e+00</a:t>
            </a:r>
          </a:p>
          <a:p>
            <a:r>
              <a:rPr lang="en-US" altLang="ko-KR" dirty="0" smtClean="0"/>
              <a:t>SEX1            0.3952     1.485 0.015314  25.81 0.0e+00</a:t>
            </a:r>
          </a:p>
          <a:p>
            <a:r>
              <a:rPr lang="en-US" altLang="ko-KR" dirty="0" smtClean="0"/>
              <a:t>G1E_BMI        -0.0258     0.974 0.001962 -13.17 0.0e+00</a:t>
            </a:r>
          </a:p>
          <a:p>
            <a:r>
              <a:rPr lang="en-US" altLang="ko-KR" dirty="0" smtClean="0"/>
              <a:t>income2        -0.0293     0.971 0.018078  -1.62 1.0e-01</a:t>
            </a:r>
          </a:p>
          <a:p>
            <a:r>
              <a:rPr lang="en-US" altLang="ko-KR" dirty="0" smtClean="0"/>
              <a:t>income3        -0.0259     0.974 0.017291  -1.50 1.3e-01</a:t>
            </a:r>
          </a:p>
          <a:p>
            <a:r>
              <a:rPr lang="en-US" altLang="ko-KR" dirty="0" smtClean="0"/>
              <a:t>income4        -0.0790     0.924 0.016010  -4.94 7.9e-07</a:t>
            </a:r>
          </a:p>
          <a:p>
            <a:r>
              <a:rPr lang="en-US" altLang="ko-KR" dirty="0" smtClean="0"/>
              <a:t>income5        -0.1262     0.881 0.015020  -8.40 0.0e+00</a:t>
            </a:r>
          </a:p>
          <a:p>
            <a:r>
              <a:rPr lang="en-US" altLang="ko-KR" dirty="0" smtClean="0"/>
              <a:t>cci_group1-2    0.0722     1.075 0.013057   5.53 3.2e-08</a:t>
            </a:r>
          </a:p>
          <a:p>
            <a:r>
              <a:rPr lang="en-US" altLang="ko-KR" dirty="0" smtClean="0"/>
              <a:t>cci_group3-4    0.1503     1.162 0.019363   7.76 8.4e-15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0.3028     1.354 0.017310  17.49 0.0e+00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-0.1013     0.904 0.012058  -8.40 0.0e+00</a:t>
            </a:r>
          </a:p>
          <a:p>
            <a:r>
              <a:rPr lang="en-US" altLang="ko-KR" dirty="0" smtClean="0"/>
              <a:t>non_small_yn1  -0.2674     0.765 0.014878 -17.97 0.0e+00</a:t>
            </a:r>
          </a:p>
          <a:p>
            <a:r>
              <a:rPr lang="en-US" altLang="ko-KR" dirty="0" smtClean="0"/>
              <a:t>SEER_GRP2       0.8443     2.326 0.018424  45.83 0.0e+00</a:t>
            </a:r>
          </a:p>
          <a:p>
            <a:r>
              <a:rPr lang="en-US" altLang="ko-KR" dirty="0" smtClean="0"/>
              <a:t>SEER_GRP7       1.5596     4.757 0.019984  78.04 0.0e+00</a:t>
            </a:r>
          </a:p>
          <a:p>
            <a:r>
              <a:rPr lang="en-US" altLang="ko-KR" dirty="0" smtClean="0"/>
              <a:t>SEER_GRP9       0.7086     2.031 0.026387  26.85 0.0e+00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-1.0932     0.335 0.015214 -71.86 0.0e+00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0.0433     1.044 0.012319   3.52 4.4e-04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-0.1321     0.876 0.012687 -10.42 0.0e+00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(-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2.5% 97.5%</a:t>
            </a:r>
          </a:p>
          <a:p>
            <a:r>
              <a:rPr lang="en-US" altLang="ko-KR" dirty="0" smtClean="0"/>
              <a:t>grouptype003       0.859      1.164 0.835 0.884</a:t>
            </a:r>
          </a:p>
          <a:p>
            <a:r>
              <a:rPr lang="en-US" altLang="ko-KR" dirty="0" smtClean="0"/>
              <a:t>grouptype002       0.959      1.043 0.932 0.987</a:t>
            </a:r>
          </a:p>
          <a:p>
            <a:r>
              <a:rPr lang="en-US" altLang="ko-KR" dirty="0" smtClean="0"/>
              <a:t>AGE                1.034      0.967 1.033 1.035</a:t>
            </a:r>
          </a:p>
          <a:p>
            <a:r>
              <a:rPr lang="en-US" altLang="ko-KR" dirty="0" smtClean="0"/>
              <a:t>SEX1               1.485      0.674 1.441 1.530</a:t>
            </a:r>
          </a:p>
          <a:p>
            <a:r>
              <a:rPr lang="en-US" altLang="ko-KR" dirty="0" smtClean="0"/>
              <a:t>G1E_BMI            0.974      1.026 0.971 0.978</a:t>
            </a:r>
          </a:p>
          <a:p>
            <a:r>
              <a:rPr lang="en-US" altLang="ko-KR" dirty="0" smtClean="0"/>
              <a:t>income2            0.971      1.030 0.937 1.006</a:t>
            </a:r>
          </a:p>
          <a:p>
            <a:r>
              <a:rPr lang="en-US" altLang="ko-KR" dirty="0" smtClean="0"/>
              <a:t>income3            0.974      1.026 0.942 1.008</a:t>
            </a:r>
          </a:p>
          <a:p>
            <a:r>
              <a:rPr lang="en-US" altLang="ko-KR" dirty="0" smtClean="0"/>
              <a:t>income4            0.924      1.082 0.895 0.953</a:t>
            </a:r>
          </a:p>
          <a:p>
            <a:r>
              <a:rPr lang="en-US" altLang="ko-KR" dirty="0" smtClean="0"/>
              <a:t>income5            0.881      1.135 0.856 0.908</a:t>
            </a:r>
          </a:p>
          <a:p>
            <a:r>
              <a:rPr lang="en-US" altLang="ko-KR" dirty="0" smtClean="0"/>
              <a:t>cci_group1-2       1.075      0.930 1.048 1.103</a:t>
            </a:r>
          </a:p>
          <a:p>
            <a:r>
              <a:rPr lang="en-US" altLang="ko-KR" dirty="0" smtClean="0"/>
              <a:t>cci_group3-4       1.162      0.860 1.119 1.207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1.354      0.739 1.308 1.400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0.904      1.107 0.883 0.925</a:t>
            </a:r>
          </a:p>
          <a:p>
            <a:r>
              <a:rPr lang="en-US" altLang="ko-KR" dirty="0" smtClean="0"/>
              <a:t>non_small_yn1      0.765      1.307 0.743 0.788</a:t>
            </a:r>
          </a:p>
          <a:p>
            <a:r>
              <a:rPr lang="en-US" altLang="ko-KR" dirty="0" smtClean="0"/>
              <a:t>SEER_GRP2          2.326      0.430 2.244 2.412</a:t>
            </a:r>
          </a:p>
          <a:p>
            <a:r>
              <a:rPr lang="en-US" altLang="ko-KR" dirty="0" smtClean="0"/>
              <a:t>SEER_GRP7          4.757      0.210 4.574 4.947</a:t>
            </a:r>
          </a:p>
          <a:p>
            <a:r>
              <a:rPr lang="en-US" altLang="ko-KR" dirty="0" smtClean="0"/>
              <a:t>SEER_GRP9          2.031      0.492 1.929 2.139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0.335      2.984 0.325 0.345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1.044      0.958 1.019 1.070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0.876      1.141 0.855 0.898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Num. cases = 77554</a:t>
            </a:r>
          </a:p>
          <a:p>
            <a:r>
              <a:rPr lang="en-US" altLang="ko-KR" dirty="0" smtClean="0"/>
              <a:t>Pseudo Log-likelihood = -468939 </a:t>
            </a:r>
          </a:p>
          <a:p>
            <a:r>
              <a:rPr lang="en-US" altLang="ko-KR" dirty="0" smtClean="0"/>
              <a:t>Pseudo likelihood ratio test = 42783  on 20 </a:t>
            </a:r>
            <a:r>
              <a:rPr lang="en-US" altLang="ko-KR" dirty="0" err="1" smtClean="0"/>
              <a:t>df</a:t>
            </a:r>
            <a:r>
              <a:rPr lang="en-US" altLang="ko-KR" dirty="0" smtClean="0"/>
              <a:t>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5C7A54-757C-4375-B963-8BC9A70CF4A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783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&gt; m1&lt;-</a:t>
            </a:r>
            <a:r>
              <a:rPr lang="en-US" altLang="ko-KR" dirty="0" err="1" smtClean="0"/>
              <a:t>model.matrix</a:t>
            </a:r>
            <a:r>
              <a:rPr lang="en-US" altLang="ko-KR" dirty="0" smtClean="0"/>
              <a:t>(~grouptype+AGE+SEX+G1E_BMI+income</a:t>
            </a:r>
          </a:p>
          <a:p>
            <a:r>
              <a:rPr lang="en-US" altLang="ko-KR" dirty="0" smtClean="0"/>
              <a:t>+                  +cci_group+activity+non_small_yn+SEER_GRP+surgery_yn+radio_yn+system_yn,data=data1)[,-1]</a:t>
            </a:r>
          </a:p>
          <a:p>
            <a:r>
              <a:rPr lang="en-US" altLang="ko-KR" dirty="0" smtClean="0"/>
              <a:t>&gt; crr1_1_1 &lt;- </a:t>
            </a:r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=data1$day_diff,fstatus=data1$dth_type,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=0, cov1=m1,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=1)</a:t>
            </a:r>
          </a:p>
          <a:p>
            <a:r>
              <a:rPr lang="en-US" altLang="ko-KR" dirty="0" smtClean="0"/>
              <a:t>&gt; summary(crr1_1_1)</a:t>
            </a:r>
          </a:p>
          <a:p>
            <a:r>
              <a:rPr lang="en-US" altLang="ko-KR" dirty="0" smtClean="0"/>
              <a:t>Competing Risks Regression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Call:</a:t>
            </a:r>
          </a:p>
          <a:p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 = data1$day_diff, </a:t>
            </a:r>
            <a:r>
              <a:rPr lang="en-US" altLang="ko-KR" dirty="0" err="1" smtClean="0"/>
              <a:t>fstatus</a:t>
            </a:r>
            <a:r>
              <a:rPr lang="en-US" altLang="ko-KR" dirty="0" smtClean="0"/>
              <a:t> = data1$dth_type, cov1 = m1, 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 = 1,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 = 0)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se(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    z p-value</a:t>
            </a:r>
          </a:p>
          <a:p>
            <a:r>
              <a:rPr lang="en-US" altLang="ko-KR" dirty="0" smtClean="0"/>
              <a:t>grouptype003   -0.1518     0.859 0.014514 -10.46 0.0e+00</a:t>
            </a:r>
          </a:p>
          <a:p>
            <a:r>
              <a:rPr lang="en-US" altLang="ko-KR" dirty="0" smtClean="0"/>
              <a:t>grouptype002   -0.0418     0.959 0.014575  -2.87 4.2e-03</a:t>
            </a:r>
          </a:p>
          <a:p>
            <a:r>
              <a:rPr lang="en-US" altLang="ko-KR" dirty="0" smtClean="0"/>
              <a:t>AGE             0.0335     1.034 0.000712  47.03 0.0e+00</a:t>
            </a:r>
          </a:p>
          <a:p>
            <a:r>
              <a:rPr lang="en-US" altLang="ko-KR" dirty="0" smtClean="0"/>
              <a:t>SEX1            0.3952     1.485 0.015314  25.81 0.0e+00</a:t>
            </a:r>
          </a:p>
          <a:p>
            <a:r>
              <a:rPr lang="en-US" altLang="ko-KR" dirty="0" smtClean="0"/>
              <a:t>G1E_BMI        -0.0258     0.974 0.001962 -13.17 0.0e+00</a:t>
            </a:r>
          </a:p>
          <a:p>
            <a:r>
              <a:rPr lang="en-US" altLang="ko-KR" dirty="0" smtClean="0"/>
              <a:t>income2        -0.0293     0.971 0.018078  -1.62 1.0e-01</a:t>
            </a:r>
          </a:p>
          <a:p>
            <a:r>
              <a:rPr lang="en-US" altLang="ko-KR" dirty="0" smtClean="0"/>
              <a:t>income3        -0.0259     0.974 0.017291  -1.50 1.3e-01</a:t>
            </a:r>
          </a:p>
          <a:p>
            <a:r>
              <a:rPr lang="en-US" altLang="ko-KR" dirty="0" smtClean="0"/>
              <a:t>income4        -0.0790     0.924 0.016010  -4.94 7.9e-07</a:t>
            </a:r>
          </a:p>
          <a:p>
            <a:r>
              <a:rPr lang="en-US" altLang="ko-KR" dirty="0" smtClean="0"/>
              <a:t>income5        -0.1262     0.881 0.015020  -8.40 0.0e+00</a:t>
            </a:r>
          </a:p>
          <a:p>
            <a:r>
              <a:rPr lang="en-US" altLang="ko-KR" dirty="0" smtClean="0"/>
              <a:t>cci_group1-2    0.0722     1.075 0.013057   5.53 3.2e-08</a:t>
            </a:r>
          </a:p>
          <a:p>
            <a:r>
              <a:rPr lang="en-US" altLang="ko-KR" dirty="0" smtClean="0"/>
              <a:t>cci_group3-4    0.1503     1.162 0.019363   7.76 8.4e-15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0.3028     1.354 0.017310  17.49 0.0e+00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-0.1013     0.904 0.012058  -8.40 0.0e+00</a:t>
            </a:r>
          </a:p>
          <a:p>
            <a:r>
              <a:rPr lang="en-US" altLang="ko-KR" dirty="0" smtClean="0"/>
              <a:t>non_small_yn1  -0.2674     0.765 0.014878 -17.97 0.0e+00</a:t>
            </a:r>
          </a:p>
          <a:p>
            <a:r>
              <a:rPr lang="en-US" altLang="ko-KR" dirty="0" smtClean="0"/>
              <a:t>SEER_GRP2       0.8443     2.326 0.018424  45.83 0.0e+00</a:t>
            </a:r>
          </a:p>
          <a:p>
            <a:r>
              <a:rPr lang="en-US" altLang="ko-KR" dirty="0" smtClean="0"/>
              <a:t>SEER_GRP7       1.5596     4.757 0.019984  78.04 0.0e+00</a:t>
            </a:r>
          </a:p>
          <a:p>
            <a:r>
              <a:rPr lang="en-US" altLang="ko-KR" dirty="0" smtClean="0"/>
              <a:t>SEER_GRP9       0.7086     2.031 0.026387  26.85 0.0e+00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-1.0932     0.335 0.015214 -71.86 0.0e+00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0.0433     1.044 0.012319   3.52 4.4e-04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-0.1321     0.876 0.012687 -10.42 0.0e+00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(-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2.5% 97.5%</a:t>
            </a:r>
          </a:p>
          <a:p>
            <a:r>
              <a:rPr lang="en-US" altLang="ko-KR" dirty="0" smtClean="0"/>
              <a:t>grouptype003       0.859      1.164 0.835 0.884</a:t>
            </a:r>
          </a:p>
          <a:p>
            <a:r>
              <a:rPr lang="en-US" altLang="ko-KR" dirty="0" smtClean="0"/>
              <a:t>grouptype002       0.959      1.043 0.932 0.987</a:t>
            </a:r>
          </a:p>
          <a:p>
            <a:r>
              <a:rPr lang="en-US" altLang="ko-KR" dirty="0" smtClean="0"/>
              <a:t>AGE                1.034      0.967 1.033 1.035</a:t>
            </a:r>
          </a:p>
          <a:p>
            <a:r>
              <a:rPr lang="en-US" altLang="ko-KR" dirty="0" smtClean="0"/>
              <a:t>SEX1               1.485      0.674 1.441 1.530</a:t>
            </a:r>
          </a:p>
          <a:p>
            <a:r>
              <a:rPr lang="en-US" altLang="ko-KR" dirty="0" smtClean="0"/>
              <a:t>G1E_BMI            0.974      1.026 0.971 0.978</a:t>
            </a:r>
          </a:p>
          <a:p>
            <a:r>
              <a:rPr lang="en-US" altLang="ko-KR" dirty="0" smtClean="0"/>
              <a:t>income2            0.971      1.030 0.937 1.006</a:t>
            </a:r>
          </a:p>
          <a:p>
            <a:r>
              <a:rPr lang="en-US" altLang="ko-KR" dirty="0" smtClean="0"/>
              <a:t>income3            0.974      1.026 0.942 1.008</a:t>
            </a:r>
          </a:p>
          <a:p>
            <a:r>
              <a:rPr lang="en-US" altLang="ko-KR" dirty="0" smtClean="0"/>
              <a:t>income4            0.924      1.082 0.895 0.953</a:t>
            </a:r>
          </a:p>
          <a:p>
            <a:r>
              <a:rPr lang="en-US" altLang="ko-KR" dirty="0" smtClean="0"/>
              <a:t>income5            0.881      1.135 0.856 0.908</a:t>
            </a:r>
          </a:p>
          <a:p>
            <a:r>
              <a:rPr lang="en-US" altLang="ko-KR" dirty="0" smtClean="0"/>
              <a:t>cci_group1-2       1.075      0.930 1.048 1.103</a:t>
            </a:r>
          </a:p>
          <a:p>
            <a:r>
              <a:rPr lang="en-US" altLang="ko-KR" dirty="0" smtClean="0"/>
              <a:t>cci_group3-4       1.162      0.860 1.119 1.207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1.354      0.739 1.308 1.400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0.904      1.107 0.883 0.925</a:t>
            </a:r>
          </a:p>
          <a:p>
            <a:r>
              <a:rPr lang="en-US" altLang="ko-KR" dirty="0" smtClean="0"/>
              <a:t>non_small_yn1      0.765      1.307 0.743 0.788</a:t>
            </a:r>
          </a:p>
          <a:p>
            <a:r>
              <a:rPr lang="en-US" altLang="ko-KR" dirty="0" smtClean="0"/>
              <a:t>SEER_GRP2          2.326      0.430 2.244 2.412</a:t>
            </a:r>
          </a:p>
          <a:p>
            <a:r>
              <a:rPr lang="en-US" altLang="ko-KR" dirty="0" smtClean="0"/>
              <a:t>SEER_GRP7          4.757      0.210 4.574 4.947</a:t>
            </a:r>
          </a:p>
          <a:p>
            <a:r>
              <a:rPr lang="en-US" altLang="ko-KR" dirty="0" smtClean="0"/>
              <a:t>SEER_GRP9          2.031      0.492 1.929 2.139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0.335      2.984 0.325 0.345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1.044      0.958 1.019 1.070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0.876      1.141 0.855 0.898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Num. cases = 77554</a:t>
            </a:r>
          </a:p>
          <a:p>
            <a:r>
              <a:rPr lang="en-US" altLang="ko-KR" dirty="0" smtClean="0"/>
              <a:t>Pseudo Log-likelihood = -468939 </a:t>
            </a:r>
          </a:p>
          <a:p>
            <a:r>
              <a:rPr lang="en-US" altLang="ko-KR" dirty="0" smtClean="0"/>
              <a:t>Pseudo likelihood ratio test = 42783  on 20 </a:t>
            </a:r>
            <a:r>
              <a:rPr lang="en-US" altLang="ko-KR" dirty="0" err="1" smtClean="0"/>
              <a:t>df</a:t>
            </a:r>
            <a:r>
              <a:rPr lang="en-US" altLang="ko-KR" dirty="0" smtClean="0"/>
              <a:t>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5C7A54-757C-4375-B963-8BC9A70CF4A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91257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8EBE1B00-51F0-4989-AFA5-809D105C3FE0}" type="slidenum">
              <a:t>5</a:t>
            </a:fld>
            <a:endParaRPr lang="en-US"/>
          </a:p>
        </p:txBody>
      </p:sp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r>
              <a:rPr lang="en-US" altLang="ko-KR" dirty="0" smtClean="0"/>
              <a:t>&gt; m1&lt;-</a:t>
            </a:r>
            <a:r>
              <a:rPr lang="en-US" altLang="ko-KR" dirty="0" err="1" smtClean="0"/>
              <a:t>model.matrix</a:t>
            </a:r>
            <a:r>
              <a:rPr lang="en-US" altLang="ko-KR" dirty="0" smtClean="0"/>
              <a:t>(~smk_20+AGE+SEX+q_smk_yn2+pack_year+G1E_BMI+income</a:t>
            </a:r>
          </a:p>
          <a:p>
            <a:r>
              <a:rPr lang="en-US" altLang="ko-KR" dirty="0" smtClean="0"/>
              <a:t>+                  +cci_group+activity+non_small_yn+SEER_GRP+surgery_yn+radio_yn+system_yn,data=data11)[,-1] </a:t>
            </a:r>
          </a:p>
          <a:p>
            <a:r>
              <a:rPr lang="en-US" altLang="ko-KR" dirty="0" smtClean="0"/>
              <a:t>&gt; crr11_1 &lt;- </a:t>
            </a:r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=data11$day_diff,fstatus=data11$dth_type,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=0, cov1=m1,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=1)</a:t>
            </a:r>
          </a:p>
          <a:p>
            <a:r>
              <a:rPr lang="en-US" altLang="ko-KR" dirty="0" smtClean="0"/>
              <a:t>&gt; summary(crr11_1)</a:t>
            </a:r>
          </a:p>
          <a:p>
            <a:r>
              <a:rPr lang="en-US" altLang="ko-KR" dirty="0" smtClean="0"/>
              <a:t>Competing Risks Regression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Call:</a:t>
            </a:r>
          </a:p>
          <a:p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 = data11$day_diff, </a:t>
            </a:r>
            <a:r>
              <a:rPr lang="en-US" altLang="ko-KR" dirty="0" err="1" smtClean="0"/>
              <a:t>fstatus</a:t>
            </a:r>
            <a:r>
              <a:rPr lang="en-US" altLang="ko-KR" dirty="0" smtClean="0"/>
              <a:t> = data11$dth_type, cov1 = m1, 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 = 1,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 = 0)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   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se(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    z p-value</a:t>
            </a:r>
          </a:p>
          <a:p>
            <a:r>
              <a:rPr lang="en-US" altLang="ko-KR" dirty="0" smtClean="0"/>
              <a:t>smk_20&lt;20               -0.05696     0.945 0.022482  -2.53 1.1e-02</a:t>
            </a:r>
          </a:p>
          <a:p>
            <a:r>
              <a:rPr lang="en-US" altLang="ko-KR" dirty="0" smtClean="0"/>
              <a:t>AGE                      0.03220     1.033 0.000922  34.92 0.0e+00</a:t>
            </a:r>
          </a:p>
          <a:p>
            <a:r>
              <a:rPr lang="en-US" altLang="ko-KR" dirty="0" smtClean="0"/>
              <a:t>SEX1                     0.17617     1.193 0.035549   4.96 7.2e-07</a:t>
            </a:r>
          </a:p>
          <a:p>
            <a:r>
              <a:rPr lang="en-US" altLang="ko-KR" dirty="0" smtClean="0"/>
              <a:t>q_smk_yn2Current smoker  0.14079     1.151 0.013238  10.64 0.0e+00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0.00119     1.001 0.000322   3.68 2.3e-04</a:t>
            </a:r>
          </a:p>
          <a:p>
            <a:r>
              <a:rPr lang="en-US" altLang="ko-KR" dirty="0" smtClean="0"/>
              <a:t>G1E_BMI                 -0.02464     0.976 0.002503  -9.84 0.0e+00</a:t>
            </a:r>
          </a:p>
          <a:p>
            <a:r>
              <a:rPr lang="en-US" altLang="ko-KR" dirty="0" smtClean="0"/>
              <a:t>income2                 -0.02627     0.974 0.021958  -1.20 2.3e-01</a:t>
            </a:r>
          </a:p>
          <a:p>
            <a:r>
              <a:rPr lang="en-US" altLang="ko-KR" dirty="0" smtClean="0"/>
              <a:t>income3                 -0.02345     0.977 0.021006  -1.12 2.6e-01</a:t>
            </a:r>
          </a:p>
          <a:p>
            <a:r>
              <a:rPr lang="en-US" altLang="ko-KR" dirty="0" smtClean="0"/>
              <a:t>income4                 -0.05281     0.949 0.019554  -2.70 6.9e-03</a:t>
            </a:r>
          </a:p>
          <a:p>
            <a:r>
              <a:rPr lang="en-US" altLang="ko-KR" dirty="0" smtClean="0"/>
              <a:t>income5                 -0.10421     0.901 0.018665  -5.58 2.4e-08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0.28802     1.334 0.021862  13.17 0.0e+00</a:t>
            </a:r>
          </a:p>
          <a:p>
            <a:r>
              <a:rPr lang="en-US" altLang="ko-KR" dirty="0" smtClean="0"/>
              <a:t>cci_group1-2             0.05943     1.061 0.016411   3.62 2.9e-04</a:t>
            </a:r>
          </a:p>
          <a:p>
            <a:r>
              <a:rPr lang="en-US" altLang="ko-KR" dirty="0" smtClean="0"/>
              <a:t>cci_group3-4             0.11878     1.126 0.023818   4.99 6.1e-07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-0.06576     0.936 0.014789  -4.45 8.7e-06</a:t>
            </a:r>
          </a:p>
          <a:p>
            <a:r>
              <a:rPr lang="en-US" altLang="ko-KR" dirty="0" smtClean="0"/>
              <a:t>non_small_yn1           -0.20916     0.811 0.016589 -12.61 0.0e+00</a:t>
            </a:r>
          </a:p>
          <a:p>
            <a:r>
              <a:rPr lang="en-US" altLang="ko-KR" dirty="0" smtClean="0"/>
              <a:t>SEER_GRP2                0.73041     2.076 0.022285  32.78 0.0e+00</a:t>
            </a:r>
          </a:p>
          <a:p>
            <a:r>
              <a:rPr lang="en-US" altLang="ko-KR" dirty="0" smtClean="0"/>
              <a:t>SEER_GRP7                1.42759     4.169 0.024164  59.08 0.0e+00</a:t>
            </a:r>
          </a:p>
          <a:p>
            <a:r>
              <a:rPr lang="en-US" altLang="ko-KR" dirty="0" smtClean="0"/>
              <a:t>SEER_GRP9                0.61947     1.858 0.032114  19.29 0.0e+00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-1.04757     0.351 0.018517 -56.57 0.0e+00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-0.01639     0.984 0.014828  -1.11 2.7e-01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-0.14761     0.863 0.015754  -9.37 0.0e+00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(-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2.5% 97.5%</a:t>
            </a:r>
          </a:p>
          <a:p>
            <a:r>
              <a:rPr lang="en-US" altLang="ko-KR" dirty="0" smtClean="0"/>
              <a:t>smk_20&lt;20                   0.945      1.059 0.904 0.987</a:t>
            </a:r>
          </a:p>
          <a:p>
            <a:r>
              <a:rPr lang="en-US" altLang="ko-KR" dirty="0" smtClean="0"/>
              <a:t>AGE                         1.033      0.968 1.031 1.035</a:t>
            </a:r>
          </a:p>
          <a:p>
            <a:r>
              <a:rPr lang="en-US" altLang="ko-KR" dirty="0" smtClean="0"/>
              <a:t>SEX1                        1.193      0.838 1.112 1.279</a:t>
            </a:r>
          </a:p>
          <a:p>
            <a:r>
              <a:rPr lang="en-US" altLang="ko-KR" dirty="0" smtClean="0"/>
              <a:t>q_smk_yn2Current smoker     1.151      0.869 1.122 1.181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   1.001      0.999 1.001 1.002</a:t>
            </a:r>
          </a:p>
          <a:p>
            <a:r>
              <a:rPr lang="en-US" altLang="ko-KR" dirty="0" smtClean="0"/>
              <a:t>G1E_BMI                     0.976      1.025 0.971 0.980</a:t>
            </a:r>
          </a:p>
          <a:p>
            <a:r>
              <a:rPr lang="en-US" altLang="ko-KR" dirty="0" smtClean="0"/>
              <a:t>income2                     0.974      1.027 0.933 1.017</a:t>
            </a:r>
          </a:p>
          <a:p>
            <a:r>
              <a:rPr lang="en-US" altLang="ko-KR" dirty="0" smtClean="0"/>
              <a:t>income3                     0.977      1.024 0.937 1.018</a:t>
            </a:r>
          </a:p>
          <a:p>
            <a:r>
              <a:rPr lang="en-US" altLang="ko-KR" dirty="0" smtClean="0"/>
              <a:t>income4                     0.949      1.054 0.913 0.986</a:t>
            </a:r>
          </a:p>
          <a:p>
            <a:r>
              <a:rPr lang="en-US" altLang="ko-KR" dirty="0" smtClean="0"/>
              <a:t>income5                     0.901      1.110 0.869 0.935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   1.334      0.750 1.278 1.392</a:t>
            </a:r>
          </a:p>
          <a:p>
            <a:r>
              <a:rPr lang="en-US" altLang="ko-KR" dirty="0" smtClean="0"/>
              <a:t>cci_group1-2                1.061      0.942 1.028 1.096</a:t>
            </a:r>
          </a:p>
          <a:p>
            <a:r>
              <a:rPr lang="en-US" altLang="ko-KR" dirty="0" smtClean="0"/>
              <a:t>cci_group3-4                1.126      0.888 1.075 1.180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    0.936      1.068 0.910 0.964</a:t>
            </a:r>
          </a:p>
          <a:p>
            <a:r>
              <a:rPr lang="en-US" altLang="ko-KR" dirty="0" smtClean="0"/>
              <a:t>non_small_yn1               0.811      1.233 0.785 0.838</a:t>
            </a:r>
          </a:p>
          <a:p>
            <a:r>
              <a:rPr lang="en-US" altLang="ko-KR" dirty="0" smtClean="0"/>
              <a:t>SEER_GRP2                   2.076      0.482 1.987 2.169</a:t>
            </a:r>
          </a:p>
          <a:p>
            <a:r>
              <a:rPr lang="en-US" altLang="ko-KR" dirty="0" smtClean="0"/>
              <a:t>SEER_GRP7                   4.169      0.240 3.976 4.371</a:t>
            </a:r>
          </a:p>
          <a:p>
            <a:r>
              <a:rPr lang="en-US" altLang="ko-KR" dirty="0" smtClean="0"/>
              <a:t>SEER_GRP9                   1.858      0.538 1.745 1.979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    0.351      2.851 0.338 0.364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    0.984      1.017 0.956 1.013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    0.863      1.159 0.837 0.890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Num. cases = 44539</a:t>
            </a:r>
          </a:p>
          <a:p>
            <a:r>
              <a:rPr lang="en-US" altLang="ko-KR" dirty="0" smtClean="0"/>
              <a:t>Pseudo Log-likelihood = -287559 </a:t>
            </a:r>
          </a:p>
          <a:p>
            <a:r>
              <a:rPr lang="en-US" altLang="ko-KR" dirty="0" smtClean="0"/>
              <a:t>Pseudo likelihood ratio test = 21071  on 21 </a:t>
            </a:r>
            <a:r>
              <a:rPr lang="en-US" altLang="ko-KR" dirty="0" err="1" smtClean="0"/>
              <a:t>df</a:t>
            </a:r>
            <a:r>
              <a:rPr lang="en-US" altLang="ko-KR" dirty="0" smtClean="0"/>
              <a:t>,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42368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E9F8505-F9A3-4308-87AD-07458BD44029}" type="slidenum">
              <a:t>6</a:t>
            </a:fld>
            <a:endParaRPr lang="en-US"/>
          </a:p>
        </p:txBody>
      </p:sp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r>
              <a:rPr lang="en-US" altLang="ko-KR" dirty="0" smtClean="0"/>
              <a:t>&gt; m1&lt;-</a:t>
            </a:r>
            <a:r>
              <a:rPr lang="en-US" altLang="ko-KR" dirty="0" err="1" smtClean="0"/>
              <a:t>model.matrix</a:t>
            </a:r>
            <a:r>
              <a:rPr lang="en-US" altLang="ko-KR" dirty="0" smtClean="0"/>
              <a:t>(~smk_20+AGE+SEX+q_smk_yn2+pack_year+G1E_BMI+income</a:t>
            </a:r>
          </a:p>
          <a:p>
            <a:r>
              <a:rPr lang="en-US" altLang="ko-KR" dirty="0" smtClean="0"/>
              <a:t>+                  +cci_group+activity+non_small_yn+SEER_GRP+surgery_yn+radio_yn+system_yn,data=data11)[,-1] </a:t>
            </a:r>
          </a:p>
          <a:p>
            <a:r>
              <a:rPr lang="en-US" altLang="ko-KR" dirty="0" smtClean="0"/>
              <a:t>&gt; crr11_1 &lt;- </a:t>
            </a:r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=data11$day_diff,fstatus=data11$dth_type,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=0, cov1=m1,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=1)</a:t>
            </a:r>
          </a:p>
          <a:p>
            <a:r>
              <a:rPr lang="en-US" altLang="ko-KR" dirty="0" smtClean="0"/>
              <a:t>&gt; summary(crr11_1)</a:t>
            </a:r>
          </a:p>
          <a:p>
            <a:r>
              <a:rPr lang="en-US" altLang="ko-KR" dirty="0" smtClean="0"/>
              <a:t>Competing Risks Regression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Call:</a:t>
            </a:r>
          </a:p>
          <a:p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 = data11$day_diff, </a:t>
            </a:r>
            <a:r>
              <a:rPr lang="en-US" altLang="ko-KR" dirty="0" err="1" smtClean="0"/>
              <a:t>fstatus</a:t>
            </a:r>
            <a:r>
              <a:rPr lang="en-US" altLang="ko-KR" dirty="0" smtClean="0"/>
              <a:t> = data11$dth_type, cov1 = m1, 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 = 1,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 = 0)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   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se(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    z p-value</a:t>
            </a:r>
          </a:p>
          <a:p>
            <a:r>
              <a:rPr lang="en-US" altLang="ko-KR" dirty="0" smtClean="0"/>
              <a:t>smk_20&lt;20               -0.05696     0.945 0.022482  -2.53 1.1e-02</a:t>
            </a:r>
          </a:p>
          <a:p>
            <a:r>
              <a:rPr lang="en-US" altLang="ko-KR" dirty="0" smtClean="0"/>
              <a:t>AGE                      0.03220     1.033 0.000922  34.92 0.0e+00</a:t>
            </a:r>
          </a:p>
          <a:p>
            <a:r>
              <a:rPr lang="en-US" altLang="ko-KR" dirty="0" smtClean="0"/>
              <a:t>SEX1                     0.17617     1.193 0.035549   4.96 7.2e-07</a:t>
            </a:r>
          </a:p>
          <a:p>
            <a:r>
              <a:rPr lang="en-US" altLang="ko-KR" dirty="0" smtClean="0"/>
              <a:t>q_smk_yn2Current smoker  0.14079     1.151 0.013238  10.64 0.0e+00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0.00119     1.001 0.000322   3.68 2.3e-04</a:t>
            </a:r>
          </a:p>
          <a:p>
            <a:r>
              <a:rPr lang="en-US" altLang="ko-KR" dirty="0" smtClean="0"/>
              <a:t>G1E_BMI                 -0.02464     0.976 0.002503  -9.84 0.0e+00</a:t>
            </a:r>
          </a:p>
          <a:p>
            <a:r>
              <a:rPr lang="en-US" altLang="ko-KR" dirty="0" smtClean="0"/>
              <a:t>income2                 -0.02627     0.974 0.021958  -1.20 2.3e-01</a:t>
            </a:r>
          </a:p>
          <a:p>
            <a:r>
              <a:rPr lang="en-US" altLang="ko-KR" dirty="0" smtClean="0"/>
              <a:t>income3                 -0.02345     0.977 0.021006  -1.12 2.6e-01</a:t>
            </a:r>
          </a:p>
          <a:p>
            <a:r>
              <a:rPr lang="en-US" altLang="ko-KR" dirty="0" smtClean="0"/>
              <a:t>income4                 -0.05281     0.949 0.019554  -2.70 6.9e-03</a:t>
            </a:r>
          </a:p>
          <a:p>
            <a:r>
              <a:rPr lang="en-US" altLang="ko-KR" dirty="0" smtClean="0"/>
              <a:t>income5                 -0.10421     0.901 0.018665  -5.58 2.4e-08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0.28802     1.334 0.021862  13.17 0.0e+00</a:t>
            </a:r>
          </a:p>
          <a:p>
            <a:r>
              <a:rPr lang="en-US" altLang="ko-KR" dirty="0" smtClean="0"/>
              <a:t>cci_group1-2             0.05943     1.061 0.016411   3.62 2.9e-04</a:t>
            </a:r>
          </a:p>
          <a:p>
            <a:r>
              <a:rPr lang="en-US" altLang="ko-KR" dirty="0" smtClean="0"/>
              <a:t>cci_group3-4             0.11878     1.126 0.023818   4.99 6.1e-07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-0.06576     0.936 0.014789  -4.45 8.7e-06</a:t>
            </a:r>
          </a:p>
          <a:p>
            <a:r>
              <a:rPr lang="en-US" altLang="ko-KR" dirty="0" smtClean="0"/>
              <a:t>non_small_yn1           -0.20916     0.811 0.016589 -12.61 0.0e+00</a:t>
            </a:r>
          </a:p>
          <a:p>
            <a:r>
              <a:rPr lang="en-US" altLang="ko-KR" dirty="0" smtClean="0"/>
              <a:t>SEER_GRP2                0.73041     2.076 0.022285  32.78 0.0e+00</a:t>
            </a:r>
          </a:p>
          <a:p>
            <a:r>
              <a:rPr lang="en-US" altLang="ko-KR" dirty="0" smtClean="0"/>
              <a:t>SEER_GRP7                1.42759     4.169 0.024164  59.08 0.0e+00</a:t>
            </a:r>
          </a:p>
          <a:p>
            <a:r>
              <a:rPr lang="en-US" altLang="ko-KR" dirty="0" smtClean="0"/>
              <a:t>SEER_GRP9                0.61947     1.858 0.032114  19.29 0.0e+00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-1.04757     0.351 0.018517 -56.57 0.0e+00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-0.01639     0.984 0.014828  -1.11 2.7e-01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-0.14761     0.863 0.015754  -9.37 0.0e+00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(-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2.5% 97.5%</a:t>
            </a:r>
          </a:p>
          <a:p>
            <a:r>
              <a:rPr lang="en-US" altLang="ko-KR" dirty="0" smtClean="0"/>
              <a:t>smk_20&lt;20                   0.945      1.059 0.904 0.987</a:t>
            </a:r>
          </a:p>
          <a:p>
            <a:r>
              <a:rPr lang="en-US" altLang="ko-KR" dirty="0" smtClean="0"/>
              <a:t>AGE                         1.033      0.968 1.031 1.035</a:t>
            </a:r>
          </a:p>
          <a:p>
            <a:r>
              <a:rPr lang="en-US" altLang="ko-KR" dirty="0" smtClean="0"/>
              <a:t>SEX1                        1.193      0.838 1.112 1.279</a:t>
            </a:r>
          </a:p>
          <a:p>
            <a:r>
              <a:rPr lang="en-US" altLang="ko-KR" dirty="0" smtClean="0"/>
              <a:t>q_smk_yn2Current smoker     1.151      0.869 1.122 1.181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   1.001      0.999 1.001 1.002</a:t>
            </a:r>
          </a:p>
          <a:p>
            <a:r>
              <a:rPr lang="en-US" altLang="ko-KR" dirty="0" smtClean="0"/>
              <a:t>G1E_BMI                     0.976      1.025 0.971 0.980</a:t>
            </a:r>
          </a:p>
          <a:p>
            <a:r>
              <a:rPr lang="en-US" altLang="ko-KR" dirty="0" smtClean="0"/>
              <a:t>income2                     0.974      1.027 0.933 1.017</a:t>
            </a:r>
          </a:p>
          <a:p>
            <a:r>
              <a:rPr lang="en-US" altLang="ko-KR" dirty="0" smtClean="0"/>
              <a:t>income3                     0.977      1.024 0.937 1.018</a:t>
            </a:r>
          </a:p>
          <a:p>
            <a:r>
              <a:rPr lang="en-US" altLang="ko-KR" dirty="0" smtClean="0"/>
              <a:t>income4                     0.949      1.054 0.913 0.986</a:t>
            </a:r>
          </a:p>
          <a:p>
            <a:r>
              <a:rPr lang="en-US" altLang="ko-KR" dirty="0" smtClean="0"/>
              <a:t>income5                     0.901      1.110 0.869 0.935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   1.334      0.750 1.278 1.392</a:t>
            </a:r>
          </a:p>
          <a:p>
            <a:r>
              <a:rPr lang="en-US" altLang="ko-KR" dirty="0" smtClean="0"/>
              <a:t>cci_group1-2                1.061      0.942 1.028 1.096</a:t>
            </a:r>
          </a:p>
          <a:p>
            <a:r>
              <a:rPr lang="en-US" altLang="ko-KR" dirty="0" smtClean="0"/>
              <a:t>cci_group3-4                1.126      0.888 1.075 1.180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    0.936      1.068 0.910 0.964</a:t>
            </a:r>
          </a:p>
          <a:p>
            <a:r>
              <a:rPr lang="en-US" altLang="ko-KR" dirty="0" smtClean="0"/>
              <a:t>non_small_yn1               0.811      1.233 0.785 0.838</a:t>
            </a:r>
          </a:p>
          <a:p>
            <a:r>
              <a:rPr lang="en-US" altLang="ko-KR" dirty="0" smtClean="0"/>
              <a:t>SEER_GRP2                   2.076      0.482 1.987 2.169</a:t>
            </a:r>
          </a:p>
          <a:p>
            <a:r>
              <a:rPr lang="en-US" altLang="ko-KR" dirty="0" smtClean="0"/>
              <a:t>SEER_GRP7                   4.169      0.240 3.976 4.371</a:t>
            </a:r>
          </a:p>
          <a:p>
            <a:r>
              <a:rPr lang="en-US" altLang="ko-KR" dirty="0" smtClean="0"/>
              <a:t>SEER_GRP9                   1.858      0.538 1.745 1.979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    0.351      2.851 0.338 0.364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    0.984      1.017 0.956 1.013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    0.863      1.159 0.837 0.890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Num. cases = 44539</a:t>
            </a:r>
          </a:p>
          <a:p>
            <a:r>
              <a:rPr lang="en-US" altLang="ko-KR" dirty="0" smtClean="0"/>
              <a:t>Pseudo Log-likelihood = -287559 </a:t>
            </a:r>
          </a:p>
          <a:p>
            <a:r>
              <a:rPr lang="en-US" altLang="ko-KR" dirty="0" smtClean="0"/>
              <a:t>Pseudo likelihood ratio test = 21071  on 21 </a:t>
            </a:r>
            <a:r>
              <a:rPr lang="en-US" altLang="ko-KR" dirty="0" err="1" smtClean="0"/>
              <a:t>df</a:t>
            </a:r>
            <a:r>
              <a:rPr lang="en-US" altLang="ko-KR" dirty="0" smtClean="0"/>
              <a:t>,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680922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F6B69B1-0786-4AC7-950E-94C8C899C9AB}" type="slidenum">
              <a:t>8</a:t>
            </a:fld>
            <a:endParaRPr lang="en-US"/>
          </a:p>
        </p:txBody>
      </p:sp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r>
              <a:rPr lang="en-US" altLang="ko-KR" dirty="0" smtClean="0"/>
              <a:t>&gt; m1&lt;-</a:t>
            </a:r>
            <a:r>
              <a:rPr lang="en-US" altLang="ko-KR" dirty="0" err="1" smtClean="0"/>
              <a:t>model.matrix</a:t>
            </a:r>
            <a:r>
              <a:rPr lang="en-US" altLang="ko-KR" dirty="0" smtClean="0"/>
              <a:t>(~grouptype+SEX+q_smk_yn2+pack_year+G1E_BMI+income</a:t>
            </a:r>
          </a:p>
          <a:p>
            <a:r>
              <a:rPr lang="en-US" altLang="ko-KR" dirty="0" smtClean="0"/>
              <a:t>+                  +cci_group+activity+non_small_yn+SEER_GRP+surgery_yn+radio_yn+system_yn,data=data3)[,-1] </a:t>
            </a:r>
          </a:p>
          <a:p>
            <a:r>
              <a:rPr lang="en-US" altLang="ko-KR" dirty="0" smtClean="0"/>
              <a:t>&gt; crr3_1 &lt;- </a:t>
            </a:r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=data3$day_diff,fstatus=data3$dth_type,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=0, cov1=m1,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=1)</a:t>
            </a:r>
          </a:p>
          <a:p>
            <a:r>
              <a:rPr lang="en-US" altLang="ko-KR" dirty="0" smtClean="0"/>
              <a:t>&gt; summary(crr3_1)</a:t>
            </a:r>
          </a:p>
          <a:p>
            <a:r>
              <a:rPr lang="en-US" altLang="ko-KR" dirty="0" smtClean="0"/>
              <a:t>Competing Risks Regression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Call:</a:t>
            </a:r>
          </a:p>
          <a:p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 = data3$day_diff, </a:t>
            </a:r>
            <a:r>
              <a:rPr lang="en-US" altLang="ko-KR" dirty="0" err="1" smtClean="0"/>
              <a:t>fstatus</a:t>
            </a:r>
            <a:r>
              <a:rPr lang="en-US" altLang="ko-KR" dirty="0" smtClean="0"/>
              <a:t> = data3$dth_type, cov1 = m1, 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 = 1,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 = 0)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   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se(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     z p-value</a:t>
            </a:r>
          </a:p>
          <a:p>
            <a:r>
              <a:rPr lang="en-US" altLang="ko-KR" dirty="0" smtClean="0"/>
              <a:t>grouptype002            -0.52841     0.590 0.051012 -10.359 0.0e+00</a:t>
            </a:r>
          </a:p>
          <a:p>
            <a:r>
              <a:rPr lang="en-US" altLang="ko-KR" dirty="0" smtClean="0"/>
              <a:t>SEX1                     0.06831     1.071 0.055342   1.234 2.2e-01</a:t>
            </a:r>
          </a:p>
          <a:p>
            <a:r>
              <a:rPr lang="en-US" altLang="ko-KR" dirty="0" smtClean="0"/>
              <a:t>q_smk_yn2Current smoker  0.07129     1.074 0.014849   4.801 1.6e-06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0.00226     1.002 0.000373   6.068 1.3e-09</a:t>
            </a:r>
          </a:p>
          <a:p>
            <a:r>
              <a:rPr lang="en-US" altLang="ko-KR" dirty="0" smtClean="0"/>
              <a:t>G1E_BMI                 -0.03421     0.966 0.002837 -12.059 0.0e+00</a:t>
            </a:r>
          </a:p>
          <a:p>
            <a:r>
              <a:rPr lang="en-US" altLang="ko-KR" dirty="0" smtClean="0"/>
              <a:t>income2                 -0.04395     0.957 0.025258  -1.740 8.2e-02</a:t>
            </a:r>
          </a:p>
          <a:p>
            <a:r>
              <a:rPr lang="en-US" altLang="ko-KR" dirty="0" smtClean="0"/>
              <a:t>income3                 -0.04826     0.953 0.024278  -1.988 4.7e-02</a:t>
            </a:r>
          </a:p>
          <a:p>
            <a:r>
              <a:rPr lang="en-US" altLang="ko-KR" dirty="0" smtClean="0"/>
              <a:t>income4                 -0.03285     0.968 0.022341  -1.471 1.4e-01</a:t>
            </a:r>
          </a:p>
          <a:p>
            <a:r>
              <a:rPr lang="en-US" altLang="ko-KR" dirty="0" smtClean="0"/>
              <a:t>income5                 -0.01557     0.985 0.021262  -0.732 4.6e-01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0.33809     1.402 0.025402  13.310 0.0e+00</a:t>
            </a:r>
          </a:p>
          <a:p>
            <a:r>
              <a:rPr lang="en-US" altLang="ko-KR" dirty="0" smtClean="0"/>
              <a:t>cci_group1-2             0.11642     1.123 0.019076   6.103 1.0e-09</a:t>
            </a:r>
          </a:p>
          <a:p>
            <a:r>
              <a:rPr lang="en-US" altLang="ko-KR" dirty="0" smtClean="0"/>
              <a:t>cci_group3-4             0.20216     1.224 0.027352   7.391 1.5e-13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-0.05726     0.944 0.017414  -3.288 1.0e-03</a:t>
            </a:r>
          </a:p>
          <a:p>
            <a:r>
              <a:rPr lang="en-US" altLang="ko-KR" dirty="0" smtClean="0"/>
              <a:t>non_small_yn1           -0.18895     0.828 0.018615 -10.150 0.0e+00</a:t>
            </a:r>
          </a:p>
          <a:p>
            <a:r>
              <a:rPr lang="en-US" altLang="ko-KR" dirty="0" smtClean="0"/>
              <a:t>SEER_GRP2                0.69921     2.012 0.025688  27.219 0.0e+00</a:t>
            </a:r>
          </a:p>
          <a:p>
            <a:r>
              <a:rPr lang="en-US" altLang="ko-KR" dirty="0" smtClean="0"/>
              <a:t>SEER_GRP7                1.38518     3.996 0.027857  49.724 0.0e+00</a:t>
            </a:r>
          </a:p>
          <a:p>
            <a:r>
              <a:rPr lang="en-US" altLang="ko-KR" dirty="0" smtClean="0"/>
              <a:t>SEER_GRP9                0.57412     1.776 0.037523  15.300 0.0e+00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-1.10331     0.332 0.021297 -51.807 0.0e+00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-0.06766     0.935 0.016879  -4.009 6.1e-05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-0.23147     0.793 0.018171 -12.738 0.0e+00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(-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2.5% 97.5%</a:t>
            </a:r>
          </a:p>
          <a:p>
            <a:r>
              <a:rPr lang="en-US" altLang="ko-KR" dirty="0" smtClean="0"/>
              <a:t>grouptype002                0.590      1.696 0.533 0.652</a:t>
            </a:r>
          </a:p>
          <a:p>
            <a:r>
              <a:rPr lang="en-US" altLang="ko-KR" dirty="0" smtClean="0"/>
              <a:t>SEX1                        1.071      0.934 0.961 1.193</a:t>
            </a:r>
          </a:p>
          <a:p>
            <a:r>
              <a:rPr lang="en-US" altLang="ko-KR" dirty="0" smtClean="0"/>
              <a:t>q_smk_yn2Current smoker     1.074      0.931 1.043 1.106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   1.002      0.998 1.002 1.003</a:t>
            </a:r>
          </a:p>
          <a:p>
            <a:r>
              <a:rPr lang="en-US" altLang="ko-KR" dirty="0" smtClean="0"/>
              <a:t>G1E_BMI                     0.966      1.035 0.961 0.972</a:t>
            </a:r>
          </a:p>
          <a:p>
            <a:r>
              <a:rPr lang="en-US" altLang="ko-KR" dirty="0" smtClean="0"/>
              <a:t>income2                     0.957      1.045 0.911 1.006</a:t>
            </a:r>
          </a:p>
          <a:p>
            <a:r>
              <a:rPr lang="en-US" altLang="ko-KR" dirty="0" smtClean="0"/>
              <a:t>income3                     0.953      1.049 0.909 0.999</a:t>
            </a:r>
          </a:p>
          <a:p>
            <a:r>
              <a:rPr lang="en-US" altLang="ko-KR" dirty="0" smtClean="0"/>
              <a:t>income4                     0.968      1.033 0.926 1.011</a:t>
            </a:r>
          </a:p>
          <a:p>
            <a:r>
              <a:rPr lang="en-US" altLang="ko-KR" dirty="0" smtClean="0"/>
              <a:t>income5                     0.985      1.016 0.944 1.026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   1.402      0.713 1.334 1.474</a:t>
            </a:r>
          </a:p>
          <a:p>
            <a:r>
              <a:rPr lang="en-US" altLang="ko-KR" dirty="0" smtClean="0"/>
              <a:t>cci_group1-2                1.123      0.890 1.082 1.166</a:t>
            </a:r>
          </a:p>
          <a:p>
            <a:r>
              <a:rPr lang="en-US" altLang="ko-KR" dirty="0" smtClean="0"/>
              <a:t>cci_group3-4                1.224      0.817 1.160 1.291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    0.944      1.059 0.913 0.977</a:t>
            </a:r>
          </a:p>
          <a:p>
            <a:r>
              <a:rPr lang="en-US" altLang="ko-KR" dirty="0" smtClean="0"/>
              <a:t>non_small_yn1               0.828      1.208 0.798 0.859</a:t>
            </a:r>
          </a:p>
          <a:p>
            <a:r>
              <a:rPr lang="en-US" altLang="ko-KR" dirty="0" smtClean="0"/>
              <a:t>SEER_GRP2                   2.012      0.497 1.913 2.116</a:t>
            </a:r>
          </a:p>
          <a:p>
            <a:r>
              <a:rPr lang="en-US" altLang="ko-KR" dirty="0" smtClean="0"/>
              <a:t>SEER_GRP7                   3.996      0.250 3.783 4.220</a:t>
            </a:r>
          </a:p>
          <a:p>
            <a:r>
              <a:rPr lang="en-US" altLang="ko-KR" dirty="0" smtClean="0"/>
              <a:t>SEER_GRP9                   1.776      0.563 1.650 1.911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    0.332      3.014 0.318 0.346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    0.935      1.070 0.904 0.966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    0.793      1.260 0.766 0.822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Num. cases = 32514</a:t>
            </a:r>
          </a:p>
          <a:p>
            <a:r>
              <a:rPr lang="en-US" altLang="ko-KR" dirty="0" smtClean="0"/>
              <a:t>Pseudo Log-likelihood = -207288 </a:t>
            </a:r>
          </a:p>
          <a:p>
            <a:r>
              <a:rPr lang="en-US" altLang="ko-KR" dirty="0" smtClean="0"/>
              <a:t>Pseudo likelihood ratio test = 13903  on 20 </a:t>
            </a:r>
            <a:r>
              <a:rPr lang="en-US" altLang="ko-KR" dirty="0" err="1" smtClean="0"/>
              <a:t>df</a:t>
            </a:r>
            <a:r>
              <a:rPr lang="en-US" altLang="ko-KR" dirty="0" smtClean="0"/>
              <a:t>,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112724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6"/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F6B69B1-0786-4AC7-950E-94C8C899C9AB}" type="slidenum">
              <a:t>9</a:t>
            </a:fld>
            <a:endParaRPr lang="en-US"/>
          </a:p>
        </p:txBody>
      </p:sp>
      <p:sp>
        <p:nvSpPr>
          <p:cNvPr id="2" name="슬라이드 이미지 개체 틀 1"/>
          <p:cNvSpPr>
            <a:spLocks noGrp="1" noRot="1" noChangeAspect="1" noResize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슬라이드 노트 개체 틀 2"/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r>
              <a:rPr lang="en-US" altLang="ko-KR" dirty="0" smtClean="0"/>
              <a:t>&gt; m1&lt;-</a:t>
            </a:r>
            <a:r>
              <a:rPr lang="en-US" altLang="ko-KR" dirty="0" err="1" smtClean="0"/>
              <a:t>model.matrix</a:t>
            </a:r>
            <a:r>
              <a:rPr lang="en-US" altLang="ko-KR" dirty="0" smtClean="0"/>
              <a:t>(~grouptype+SEX+q_smk_yn2+pack_year+G1E_BMI+income</a:t>
            </a:r>
          </a:p>
          <a:p>
            <a:r>
              <a:rPr lang="en-US" altLang="ko-KR" dirty="0" smtClean="0"/>
              <a:t>+                  +cci_group+activity+non_small_yn+SEER_GRP+surgery_yn+radio_yn+system_yn,data=data3)[,-1] </a:t>
            </a:r>
          </a:p>
          <a:p>
            <a:r>
              <a:rPr lang="en-US" altLang="ko-KR" dirty="0" smtClean="0"/>
              <a:t>&gt; crr3_1 &lt;- </a:t>
            </a:r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=data3$day_diff,fstatus=data3$dth_type,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=0, cov1=m1,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=1)</a:t>
            </a:r>
          </a:p>
          <a:p>
            <a:r>
              <a:rPr lang="en-US" altLang="ko-KR" dirty="0" smtClean="0"/>
              <a:t>&gt; summary(crr3_1)</a:t>
            </a:r>
          </a:p>
          <a:p>
            <a:r>
              <a:rPr lang="en-US" altLang="ko-KR" dirty="0" smtClean="0"/>
              <a:t>Competing Risks Regression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Call:</a:t>
            </a:r>
          </a:p>
          <a:p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 = data3$day_diff, </a:t>
            </a:r>
            <a:r>
              <a:rPr lang="en-US" altLang="ko-KR" dirty="0" err="1" smtClean="0"/>
              <a:t>fstatus</a:t>
            </a:r>
            <a:r>
              <a:rPr lang="en-US" altLang="ko-KR" dirty="0" smtClean="0"/>
              <a:t> = data3$dth_type, cov1 = m1, 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 = 1,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 = 0)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   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se(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     z p-value</a:t>
            </a:r>
          </a:p>
          <a:p>
            <a:r>
              <a:rPr lang="en-US" altLang="ko-KR" dirty="0" smtClean="0"/>
              <a:t>grouptype002            -0.52841     0.590 0.051012 -10.359 0.0e+00</a:t>
            </a:r>
          </a:p>
          <a:p>
            <a:r>
              <a:rPr lang="en-US" altLang="ko-KR" dirty="0" smtClean="0"/>
              <a:t>SEX1                     0.06831     1.071 0.055342   1.234 2.2e-01</a:t>
            </a:r>
          </a:p>
          <a:p>
            <a:r>
              <a:rPr lang="en-US" altLang="ko-KR" dirty="0" smtClean="0"/>
              <a:t>q_smk_yn2Current smoker  0.07129     1.074 0.014849   4.801 1.6e-06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0.00226     1.002 0.000373   6.068 1.3e-09</a:t>
            </a:r>
          </a:p>
          <a:p>
            <a:r>
              <a:rPr lang="en-US" altLang="ko-KR" dirty="0" smtClean="0"/>
              <a:t>G1E_BMI                 -0.03421     0.966 0.002837 -12.059 0.0e+00</a:t>
            </a:r>
          </a:p>
          <a:p>
            <a:r>
              <a:rPr lang="en-US" altLang="ko-KR" dirty="0" smtClean="0"/>
              <a:t>income2                 -0.04395     0.957 0.025258  -1.740 8.2e-02</a:t>
            </a:r>
          </a:p>
          <a:p>
            <a:r>
              <a:rPr lang="en-US" altLang="ko-KR" dirty="0" smtClean="0"/>
              <a:t>income3                 -0.04826     0.953 0.024278  -1.988 4.7e-02</a:t>
            </a:r>
          </a:p>
          <a:p>
            <a:r>
              <a:rPr lang="en-US" altLang="ko-KR" dirty="0" smtClean="0"/>
              <a:t>income4                 -0.03285     0.968 0.022341  -1.471 1.4e-01</a:t>
            </a:r>
          </a:p>
          <a:p>
            <a:r>
              <a:rPr lang="en-US" altLang="ko-KR" dirty="0" smtClean="0"/>
              <a:t>income5                 -0.01557     0.985 0.021262  -0.732 4.6e-01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0.33809     1.402 0.025402  13.310 0.0e+00</a:t>
            </a:r>
          </a:p>
          <a:p>
            <a:r>
              <a:rPr lang="en-US" altLang="ko-KR" dirty="0" smtClean="0"/>
              <a:t>cci_group1-2             0.11642     1.123 0.019076   6.103 1.0e-09</a:t>
            </a:r>
          </a:p>
          <a:p>
            <a:r>
              <a:rPr lang="en-US" altLang="ko-KR" dirty="0" smtClean="0"/>
              <a:t>cci_group3-4             0.20216     1.224 0.027352   7.391 1.5e-13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-0.05726     0.944 0.017414  -3.288 1.0e-03</a:t>
            </a:r>
          </a:p>
          <a:p>
            <a:r>
              <a:rPr lang="en-US" altLang="ko-KR" dirty="0" smtClean="0"/>
              <a:t>non_small_yn1           -0.18895     0.828 0.018615 -10.150 0.0e+00</a:t>
            </a:r>
          </a:p>
          <a:p>
            <a:r>
              <a:rPr lang="en-US" altLang="ko-KR" dirty="0" smtClean="0"/>
              <a:t>SEER_GRP2                0.69921     2.012 0.025688  27.219 0.0e+00</a:t>
            </a:r>
          </a:p>
          <a:p>
            <a:r>
              <a:rPr lang="en-US" altLang="ko-KR" dirty="0" smtClean="0"/>
              <a:t>SEER_GRP7                1.38518     3.996 0.027857  49.724 0.0e+00</a:t>
            </a:r>
          </a:p>
          <a:p>
            <a:r>
              <a:rPr lang="en-US" altLang="ko-KR" dirty="0" smtClean="0"/>
              <a:t>SEER_GRP9                0.57412     1.776 0.037523  15.300 0.0e+00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-1.10331     0.332 0.021297 -51.807 0.0e+00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-0.06766     0.935 0.016879  -4.009 6.1e-05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-0.23147     0.793 0.018171 -12.738 0.0e+00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(-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2.5% 97.5%</a:t>
            </a:r>
          </a:p>
          <a:p>
            <a:r>
              <a:rPr lang="en-US" altLang="ko-KR" dirty="0" smtClean="0"/>
              <a:t>grouptype002                0.590      1.696 0.533 0.652</a:t>
            </a:r>
          </a:p>
          <a:p>
            <a:r>
              <a:rPr lang="en-US" altLang="ko-KR" dirty="0" smtClean="0"/>
              <a:t>SEX1                        1.071      0.934 0.961 1.193</a:t>
            </a:r>
          </a:p>
          <a:p>
            <a:r>
              <a:rPr lang="en-US" altLang="ko-KR" dirty="0" smtClean="0"/>
              <a:t>q_smk_yn2Current smoker     1.074      0.931 1.043 1.106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   1.002      0.998 1.002 1.003</a:t>
            </a:r>
          </a:p>
          <a:p>
            <a:r>
              <a:rPr lang="en-US" altLang="ko-KR" dirty="0" smtClean="0"/>
              <a:t>G1E_BMI                     0.966      1.035 0.961 0.972</a:t>
            </a:r>
          </a:p>
          <a:p>
            <a:r>
              <a:rPr lang="en-US" altLang="ko-KR" dirty="0" smtClean="0"/>
              <a:t>income2                     0.957      1.045 0.911 1.006</a:t>
            </a:r>
          </a:p>
          <a:p>
            <a:r>
              <a:rPr lang="en-US" altLang="ko-KR" dirty="0" smtClean="0"/>
              <a:t>income3                     0.953      1.049 0.909 0.999</a:t>
            </a:r>
          </a:p>
          <a:p>
            <a:r>
              <a:rPr lang="en-US" altLang="ko-KR" dirty="0" smtClean="0"/>
              <a:t>income4                     0.968      1.033 0.926 1.011</a:t>
            </a:r>
          </a:p>
          <a:p>
            <a:r>
              <a:rPr lang="en-US" altLang="ko-KR" dirty="0" smtClean="0"/>
              <a:t>income5                     0.985      1.016 0.944 1.026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   1.402      0.713 1.334 1.474</a:t>
            </a:r>
          </a:p>
          <a:p>
            <a:r>
              <a:rPr lang="en-US" altLang="ko-KR" dirty="0" smtClean="0"/>
              <a:t>cci_group1-2                1.123      0.890 1.082 1.166</a:t>
            </a:r>
          </a:p>
          <a:p>
            <a:r>
              <a:rPr lang="en-US" altLang="ko-KR" dirty="0" smtClean="0"/>
              <a:t>cci_group3-4                1.224      0.817 1.160 1.291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    0.944      1.059 0.913 0.977</a:t>
            </a:r>
          </a:p>
          <a:p>
            <a:r>
              <a:rPr lang="en-US" altLang="ko-KR" dirty="0" smtClean="0"/>
              <a:t>non_small_yn1               0.828      1.208 0.798 0.859</a:t>
            </a:r>
          </a:p>
          <a:p>
            <a:r>
              <a:rPr lang="en-US" altLang="ko-KR" dirty="0" smtClean="0"/>
              <a:t>SEER_GRP2                   2.012      0.497 1.913 2.116</a:t>
            </a:r>
          </a:p>
          <a:p>
            <a:r>
              <a:rPr lang="en-US" altLang="ko-KR" dirty="0" smtClean="0"/>
              <a:t>SEER_GRP7                   3.996      0.250 3.783 4.220</a:t>
            </a:r>
          </a:p>
          <a:p>
            <a:r>
              <a:rPr lang="en-US" altLang="ko-KR" dirty="0" smtClean="0"/>
              <a:t>SEER_GRP9                   1.776      0.563 1.650 1.911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    0.332      3.014 0.318 0.346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    0.935      1.070 0.904 0.966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    0.793      1.260 0.766 0.822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Num. cases = 32514</a:t>
            </a:r>
          </a:p>
          <a:p>
            <a:r>
              <a:rPr lang="en-US" altLang="ko-KR" dirty="0" smtClean="0"/>
              <a:t>Pseudo Log-likelihood = -207288 </a:t>
            </a:r>
          </a:p>
          <a:p>
            <a:r>
              <a:rPr lang="en-US" altLang="ko-KR" dirty="0" smtClean="0"/>
              <a:t>Pseudo likelihood ratio test = 13903  on 20 </a:t>
            </a:r>
            <a:r>
              <a:rPr lang="en-US" altLang="ko-KR" dirty="0" err="1" smtClean="0"/>
              <a:t>df</a:t>
            </a:r>
            <a:r>
              <a:rPr lang="en-US" altLang="ko-KR" dirty="0" smtClean="0"/>
              <a:t>,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5841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&gt; m1&lt;-</a:t>
            </a:r>
            <a:r>
              <a:rPr lang="en-US" altLang="ko-KR" dirty="0" err="1" smtClean="0"/>
              <a:t>model.matrix</a:t>
            </a:r>
            <a:r>
              <a:rPr lang="en-US" altLang="ko-KR" dirty="0" smtClean="0"/>
              <a:t>(~grouptype+SEX+q_smk_yn2+pack_year+G1E_BMI+income</a:t>
            </a:r>
          </a:p>
          <a:p>
            <a:r>
              <a:rPr lang="en-US" altLang="ko-KR" dirty="0" smtClean="0"/>
              <a:t>+                  +cci_group+activity+non_small_yn+SEER_GRP+surgery_yn+radio_yn+system_yn,data=data4)[,-1] </a:t>
            </a:r>
          </a:p>
          <a:p>
            <a:r>
              <a:rPr lang="en-US" altLang="ko-KR" dirty="0" smtClean="0"/>
              <a:t>&gt; crr4_1 &lt;- </a:t>
            </a:r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=data4$day_diff,fstatus=data4$dth_type,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=0, cov1=m1,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=1)</a:t>
            </a:r>
          </a:p>
          <a:p>
            <a:r>
              <a:rPr lang="en-US" altLang="ko-KR" dirty="0" smtClean="0"/>
              <a:t>&gt; summary(crr4_1)</a:t>
            </a:r>
          </a:p>
          <a:p>
            <a:r>
              <a:rPr lang="en-US" altLang="ko-KR" dirty="0" smtClean="0"/>
              <a:t>Competing Risks Regression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Call:</a:t>
            </a:r>
          </a:p>
          <a:p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 = data4$day_diff, </a:t>
            </a:r>
            <a:r>
              <a:rPr lang="en-US" altLang="ko-KR" dirty="0" err="1" smtClean="0"/>
              <a:t>fstatus</a:t>
            </a:r>
            <a:r>
              <a:rPr lang="en-US" altLang="ko-KR" dirty="0" smtClean="0"/>
              <a:t> = data4$dth_type, cov1 = m1, 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 = 1,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 = 0)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   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se(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     z p-value</a:t>
            </a:r>
          </a:p>
          <a:p>
            <a:r>
              <a:rPr lang="en-US" altLang="ko-KR" dirty="0" smtClean="0"/>
              <a:t>grouptype002            -0.56048     0.571  0.04910 -11.414 0.0e+00</a:t>
            </a:r>
          </a:p>
          <a:p>
            <a:r>
              <a:rPr lang="en-US" altLang="ko-KR" dirty="0" smtClean="0"/>
              <a:t>SEX1                     0.31155     1.366  0.04393   7.092 1.3e-12</a:t>
            </a:r>
          </a:p>
          <a:p>
            <a:r>
              <a:rPr lang="en-US" altLang="ko-KR" dirty="0" smtClean="0"/>
              <a:t>q_smk_yn2Current smoker  0.10565     1.111  0.02435   4.338 1.4e-05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0.00566     1.006  0.00236   2.402 1.6e-02</a:t>
            </a:r>
          </a:p>
          <a:p>
            <a:r>
              <a:rPr lang="en-US" altLang="ko-KR" dirty="0" smtClean="0"/>
              <a:t>G1E_BMI                 -0.03540     0.965  0.00462  -7.659 1.9e-14</a:t>
            </a:r>
          </a:p>
          <a:p>
            <a:r>
              <a:rPr lang="en-US" altLang="ko-KR" dirty="0" smtClean="0"/>
              <a:t>income2                 -0.05657     0.945  0.04027  -1.405 1.6e-01</a:t>
            </a:r>
          </a:p>
          <a:p>
            <a:r>
              <a:rPr lang="en-US" altLang="ko-KR" dirty="0" smtClean="0"/>
              <a:t>income3                  0.01441     1.015  0.03843   0.375 7.1e-01</a:t>
            </a:r>
          </a:p>
          <a:p>
            <a:r>
              <a:rPr lang="en-US" altLang="ko-KR" dirty="0" smtClean="0"/>
              <a:t>income4                 -0.03699     0.964  0.03667  -1.009 3.1e-01</a:t>
            </a:r>
          </a:p>
          <a:p>
            <a:r>
              <a:rPr lang="en-US" altLang="ko-KR" dirty="0" smtClean="0"/>
              <a:t>income5                 -0.05772     0.944  0.03464  -1.666 9.6e-02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0.35273     1.423  0.03873   9.107 0.0e+00</a:t>
            </a:r>
          </a:p>
          <a:p>
            <a:r>
              <a:rPr lang="en-US" altLang="ko-KR" dirty="0" smtClean="0"/>
              <a:t>cci_group1-2             0.12877     1.137  0.02914   4.419 9.9e-06</a:t>
            </a:r>
          </a:p>
          <a:p>
            <a:r>
              <a:rPr lang="en-US" altLang="ko-KR" dirty="0" smtClean="0"/>
              <a:t>cci_group3-4             0.30228     1.353  0.04471   6.761 1.4e-11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-0.06507     0.937  0.02583  -2.519 1.2e-02</a:t>
            </a:r>
          </a:p>
          <a:p>
            <a:r>
              <a:rPr lang="en-US" altLang="ko-KR" dirty="0" smtClean="0"/>
              <a:t>non_small_yn1           -0.37463     0.688  0.03235 -11.580 0.0e+00</a:t>
            </a:r>
          </a:p>
          <a:p>
            <a:r>
              <a:rPr lang="en-US" altLang="ko-KR" dirty="0" smtClean="0"/>
              <a:t>SEER_GRP2                0.84802     2.335  0.04463  19.003 0.0e+00</a:t>
            </a:r>
          </a:p>
          <a:p>
            <a:r>
              <a:rPr lang="en-US" altLang="ko-KR" dirty="0" smtClean="0"/>
              <a:t>SEER_GRP7                1.49114     4.442  0.04797  31.082 0.0e+00</a:t>
            </a:r>
          </a:p>
          <a:p>
            <a:r>
              <a:rPr lang="en-US" altLang="ko-KR" dirty="0" smtClean="0"/>
              <a:t>SEER_GRP9                0.75531     2.128  0.06164  12.253 0.0e+00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-1.20960     0.298  0.03597 -33.626 0.0e+00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 0.01759     1.018  0.02801   0.628 5.3e-01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-0.24260     0.785  0.02880  -8.424 0.0e+00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(-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2.5% 97.5%</a:t>
            </a:r>
          </a:p>
          <a:p>
            <a:r>
              <a:rPr lang="en-US" altLang="ko-KR" dirty="0" smtClean="0"/>
              <a:t>grouptype002                0.571      1.752 0.519 0.629</a:t>
            </a:r>
          </a:p>
          <a:p>
            <a:r>
              <a:rPr lang="en-US" altLang="ko-KR" dirty="0" smtClean="0"/>
              <a:t>SEX1                        1.366      0.732 1.253 1.488</a:t>
            </a:r>
          </a:p>
          <a:p>
            <a:r>
              <a:rPr lang="en-US" altLang="ko-KR" dirty="0" smtClean="0"/>
              <a:t>q_smk_yn2Current smoker     1.111      0.900 1.060 1.166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   1.006      0.994 1.001 1.010</a:t>
            </a:r>
          </a:p>
          <a:p>
            <a:r>
              <a:rPr lang="en-US" altLang="ko-KR" dirty="0" smtClean="0"/>
              <a:t>G1E_BMI                     0.965      1.036 0.957 0.974</a:t>
            </a:r>
          </a:p>
          <a:p>
            <a:r>
              <a:rPr lang="en-US" altLang="ko-KR" dirty="0" smtClean="0"/>
              <a:t>income2                     0.945      1.058 0.873 1.023</a:t>
            </a:r>
          </a:p>
          <a:p>
            <a:r>
              <a:rPr lang="en-US" altLang="ko-KR" dirty="0" smtClean="0"/>
              <a:t>income3                     1.015      0.986 0.941 1.094</a:t>
            </a:r>
          </a:p>
          <a:p>
            <a:r>
              <a:rPr lang="en-US" altLang="ko-KR" dirty="0" smtClean="0"/>
              <a:t>income4                     0.964      1.038 0.897 1.035</a:t>
            </a:r>
          </a:p>
          <a:p>
            <a:r>
              <a:rPr lang="en-US" altLang="ko-KR" dirty="0" smtClean="0"/>
              <a:t>income5                     0.944      1.059 0.882 1.010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   1.423      0.703 1.319 1.535</a:t>
            </a:r>
          </a:p>
          <a:p>
            <a:r>
              <a:rPr lang="en-US" altLang="ko-KR" dirty="0" smtClean="0"/>
              <a:t>cci_group1-2                1.137      0.879 1.074 1.204</a:t>
            </a:r>
          </a:p>
          <a:p>
            <a:r>
              <a:rPr lang="en-US" altLang="ko-KR" dirty="0" smtClean="0"/>
              <a:t>cci_group3-4                1.353      0.739 1.239 1.477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    0.937      1.067 0.891 0.986</a:t>
            </a:r>
          </a:p>
          <a:p>
            <a:r>
              <a:rPr lang="en-US" altLang="ko-KR" dirty="0" smtClean="0"/>
              <a:t>non_small_yn1               0.688      1.454 0.645 0.733</a:t>
            </a:r>
          </a:p>
          <a:p>
            <a:r>
              <a:rPr lang="en-US" altLang="ko-KR" dirty="0" smtClean="0"/>
              <a:t>SEER_GRP2                   2.335      0.428 2.139 2.548</a:t>
            </a:r>
          </a:p>
          <a:p>
            <a:r>
              <a:rPr lang="en-US" altLang="ko-KR" dirty="0" smtClean="0"/>
              <a:t>SEER_GRP7                   4.442      0.225 4.044 4.880</a:t>
            </a:r>
          </a:p>
          <a:p>
            <a:r>
              <a:rPr lang="en-US" altLang="ko-KR" dirty="0" smtClean="0"/>
              <a:t>SEER_GRP9                   2.128      0.470 1.886 2.402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    0.298      3.352 0.278 0.320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    1.018      0.983 0.963 1.075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    0.785      1.275 0.742 0.830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Num. cases = 13682</a:t>
            </a:r>
          </a:p>
          <a:p>
            <a:r>
              <a:rPr lang="en-US" altLang="ko-KR" dirty="0" smtClean="0"/>
              <a:t>Pseudo Log-likelihood = -71618 </a:t>
            </a:r>
          </a:p>
          <a:p>
            <a:r>
              <a:rPr lang="en-US" altLang="ko-KR" dirty="0" smtClean="0"/>
              <a:t>Pseudo likelihood ratio test = 6799  on 20 </a:t>
            </a:r>
            <a:r>
              <a:rPr lang="en-US" altLang="ko-KR" dirty="0" err="1" smtClean="0"/>
              <a:t>df</a:t>
            </a:r>
            <a:r>
              <a:rPr lang="en-US" altLang="ko-KR" dirty="0" smtClean="0"/>
              <a:t>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5C7A54-757C-4375-B963-8BC9A70CF4A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5990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&gt; m1&lt;-</a:t>
            </a:r>
            <a:r>
              <a:rPr lang="en-US" altLang="ko-KR" dirty="0" err="1" smtClean="0"/>
              <a:t>model.matrix</a:t>
            </a:r>
            <a:r>
              <a:rPr lang="en-US" altLang="ko-KR" dirty="0" smtClean="0"/>
              <a:t>(~grouptype+SEX+q_smk_yn2+pack_year+G1E_BMI+income</a:t>
            </a:r>
          </a:p>
          <a:p>
            <a:r>
              <a:rPr lang="en-US" altLang="ko-KR" dirty="0" smtClean="0"/>
              <a:t>+                  +cci_group+activity+non_small_yn+SEER_GRP+surgery_yn+radio_yn+system_yn,data=data4)[,-1] </a:t>
            </a:r>
          </a:p>
          <a:p>
            <a:r>
              <a:rPr lang="en-US" altLang="ko-KR" dirty="0" smtClean="0"/>
              <a:t>&gt; crr4_1 &lt;- </a:t>
            </a:r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=data4$day_diff,fstatus=data4$dth_type,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=0, cov1=m1,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=1)</a:t>
            </a:r>
          </a:p>
          <a:p>
            <a:r>
              <a:rPr lang="en-US" altLang="ko-KR" dirty="0" smtClean="0"/>
              <a:t>&gt; summary(crr4_1)</a:t>
            </a:r>
          </a:p>
          <a:p>
            <a:r>
              <a:rPr lang="en-US" altLang="ko-KR" dirty="0" smtClean="0"/>
              <a:t>Competing Risks Regression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Call:</a:t>
            </a:r>
          </a:p>
          <a:p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 = data4$day_diff, </a:t>
            </a:r>
            <a:r>
              <a:rPr lang="en-US" altLang="ko-KR" dirty="0" err="1" smtClean="0"/>
              <a:t>fstatus</a:t>
            </a:r>
            <a:r>
              <a:rPr lang="en-US" altLang="ko-KR" dirty="0" smtClean="0"/>
              <a:t> = data4$dth_type, cov1 = m1, 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 = 1,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 = 0)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   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se(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     z p-value</a:t>
            </a:r>
          </a:p>
          <a:p>
            <a:r>
              <a:rPr lang="en-US" altLang="ko-KR" dirty="0" smtClean="0"/>
              <a:t>grouptype002            -0.56048     0.571  0.04910 -11.414 0.0e+00</a:t>
            </a:r>
          </a:p>
          <a:p>
            <a:r>
              <a:rPr lang="en-US" altLang="ko-KR" dirty="0" smtClean="0"/>
              <a:t>SEX1                     0.31155     1.366  0.04393   7.092 1.3e-12</a:t>
            </a:r>
          </a:p>
          <a:p>
            <a:r>
              <a:rPr lang="en-US" altLang="ko-KR" dirty="0" smtClean="0"/>
              <a:t>q_smk_yn2Current smoker  0.10565     1.111  0.02435   4.338 1.4e-05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0.00566     1.006  0.00236   2.402 1.6e-02</a:t>
            </a:r>
          </a:p>
          <a:p>
            <a:r>
              <a:rPr lang="en-US" altLang="ko-KR" dirty="0" smtClean="0"/>
              <a:t>G1E_BMI                 -0.03540     0.965  0.00462  -7.659 1.9e-14</a:t>
            </a:r>
          </a:p>
          <a:p>
            <a:r>
              <a:rPr lang="en-US" altLang="ko-KR" dirty="0" smtClean="0"/>
              <a:t>income2                 -0.05657     0.945  0.04027  -1.405 1.6e-01</a:t>
            </a:r>
          </a:p>
          <a:p>
            <a:r>
              <a:rPr lang="en-US" altLang="ko-KR" dirty="0" smtClean="0"/>
              <a:t>income3                  0.01441     1.015  0.03843   0.375 7.1e-01</a:t>
            </a:r>
          </a:p>
          <a:p>
            <a:r>
              <a:rPr lang="en-US" altLang="ko-KR" dirty="0" smtClean="0"/>
              <a:t>income4                 -0.03699     0.964  0.03667  -1.009 3.1e-01</a:t>
            </a:r>
          </a:p>
          <a:p>
            <a:r>
              <a:rPr lang="en-US" altLang="ko-KR" dirty="0" smtClean="0"/>
              <a:t>income5                 -0.05772     0.944  0.03464  -1.666 9.6e-02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0.35273     1.423  0.03873   9.107 0.0e+00</a:t>
            </a:r>
          </a:p>
          <a:p>
            <a:r>
              <a:rPr lang="en-US" altLang="ko-KR" dirty="0" smtClean="0"/>
              <a:t>cci_group1-2             0.12877     1.137  0.02914   4.419 9.9e-06</a:t>
            </a:r>
          </a:p>
          <a:p>
            <a:r>
              <a:rPr lang="en-US" altLang="ko-KR" dirty="0" smtClean="0"/>
              <a:t>cci_group3-4             0.30228     1.353  0.04471   6.761 1.4e-11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-0.06507     0.937  0.02583  -2.519 1.2e-02</a:t>
            </a:r>
          </a:p>
          <a:p>
            <a:r>
              <a:rPr lang="en-US" altLang="ko-KR" dirty="0" smtClean="0"/>
              <a:t>non_small_yn1           -0.37463     0.688  0.03235 -11.580 0.0e+00</a:t>
            </a:r>
          </a:p>
          <a:p>
            <a:r>
              <a:rPr lang="en-US" altLang="ko-KR" dirty="0" smtClean="0"/>
              <a:t>SEER_GRP2                0.84802     2.335  0.04463  19.003 0.0e+00</a:t>
            </a:r>
          </a:p>
          <a:p>
            <a:r>
              <a:rPr lang="en-US" altLang="ko-KR" dirty="0" smtClean="0"/>
              <a:t>SEER_GRP7                1.49114     4.442  0.04797  31.082 0.0e+00</a:t>
            </a:r>
          </a:p>
          <a:p>
            <a:r>
              <a:rPr lang="en-US" altLang="ko-KR" dirty="0" smtClean="0"/>
              <a:t>SEER_GRP9                0.75531     2.128  0.06164  12.253 0.0e+00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-1.20960     0.298  0.03597 -33.626 0.0e+00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 0.01759     1.018  0.02801   0.628 5.3e-01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-0.24260     0.785  0.02880  -8.424 0.0e+00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     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(-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2.5% 97.5%</a:t>
            </a:r>
          </a:p>
          <a:p>
            <a:r>
              <a:rPr lang="en-US" altLang="ko-KR" dirty="0" smtClean="0"/>
              <a:t>grouptype002                0.571      1.752 0.519 0.629</a:t>
            </a:r>
          </a:p>
          <a:p>
            <a:r>
              <a:rPr lang="en-US" altLang="ko-KR" dirty="0" smtClean="0"/>
              <a:t>SEX1                        1.366      0.732 1.253 1.488</a:t>
            </a:r>
          </a:p>
          <a:p>
            <a:r>
              <a:rPr lang="en-US" altLang="ko-KR" dirty="0" smtClean="0"/>
              <a:t>q_smk_yn2Current smoker     1.111      0.900 1.060 1.166</a:t>
            </a:r>
          </a:p>
          <a:p>
            <a:r>
              <a:rPr lang="en-US" altLang="ko-KR" dirty="0" err="1" smtClean="0"/>
              <a:t>pack_year</a:t>
            </a:r>
            <a:r>
              <a:rPr lang="en-US" altLang="ko-KR" dirty="0" smtClean="0"/>
              <a:t>                   1.006      0.994 1.001 1.010</a:t>
            </a:r>
          </a:p>
          <a:p>
            <a:r>
              <a:rPr lang="en-US" altLang="ko-KR" dirty="0" smtClean="0"/>
              <a:t>G1E_BMI                     0.965      1.036 0.957 0.974</a:t>
            </a:r>
          </a:p>
          <a:p>
            <a:r>
              <a:rPr lang="en-US" altLang="ko-KR" dirty="0" smtClean="0"/>
              <a:t>income2                     0.945      1.058 0.873 1.023</a:t>
            </a:r>
          </a:p>
          <a:p>
            <a:r>
              <a:rPr lang="en-US" altLang="ko-KR" dirty="0" smtClean="0"/>
              <a:t>income3                     1.015      0.986 0.941 1.094</a:t>
            </a:r>
          </a:p>
          <a:p>
            <a:r>
              <a:rPr lang="en-US" altLang="ko-KR" dirty="0" smtClean="0"/>
              <a:t>income4                     0.964      1.038 0.897 1.035</a:t>
            </a:r>
          </a:p>
          <a:p>
            <a:r>
              <a:rPr lang="en-US" altLang="ko-KR" dirty="0" smtClean="0"/>
              <a:t>income5                     0.944      1.059 0.882 1.010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         1.423      0.703 1.319 1.535</a:t>
            </a:r>
          </a:p>
          <a:p>
            <a:r>
              <a:rPr lang="en-US" altLang="ko-KR" dirty="0" smtClean="0"/>
              <a:t>cci_group1-2                1.137      0.879 1.074 1.204</a:t>
            </a:r>
          </a:p>
          <a:p>
            <a:r>
              <a:rPr lang="en-US" altLang="ko-KR" dirty="0" smtClean="0"/>
              <a:t>cci_group3-4                1.353      0.739 1.239 1.477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         0.937      1.067 0.891 0.986</a:t>
            </a:r>
          </a:p>
          <a:p>
            <a:r>
              <a:rPr lang="en-US" altLang="ko-KR" dirty="0" smtClean="0"/>
              <a:t>non_small_yn1               0.688      1.454 0.645 0.733</a:t>
            </a:r>
          </a:p>
          <a:p>
            <a:r>
              <a:rPr lang="en-US" altLang="ko-KR" dirty="0" smtClean="0"/>
              <a:t>SEER_GRP2                   2.335      0.428 2.139 2.548</a:t>
            </a:r>
          </a:p>
          <a:p>
            <a:r>
              <a:rPr lang="en-US" altLang="ko-KR" dirty="0" smtClean="0"/>
              <a:t>SEER_GRP7                   4.442      0.225 4.044 4.880</a:t>
            </a:r>
          </a:p>
          <a:p>
            <a:r>
              <a:rPr lang="en-US" altLang="ko-KR" dirty="0" smtClean="0"/>
              <a:t>SEER_GRP9                   2.128      0.470 1.886 2.402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         0.298      3.352 0.278 0.320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         1.018      0.983 0.963 1.075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         0.785      1.275 0.742 0.830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Num. cases = 13682</a:t>
            </a:r>
          </a:p>
          <a:p>
            <a:r>
              <a:rPr lang="en-US" altLang="ko-KR" dirty="0" smtClean="0"/>
              <a:t>Pseudo Log-likelihood = -71618 </a:t>
            </a:r>
          </a:p>
          <a:p>
            <a:r>
              <a:rPr lang="en-US" altLang="ko-KR" dirty="0" smtClean="0"/>
              <a:t>Pseudo likelihood ratio test = 6799  on 20 </a:t>
            </a:r>
            <a:r>
              <a:rPr lang="en-US" altLang="ko-KR" dirty="0" err="1" smtClean="0"/>
              <a:t>df</a:t>
            </a:r>
            <a:r>
              <a:rPr lang="en-US" altLang="ko-KR" dirty="0" smtClean="0"/>
              <a:t>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5C7A54-757C-4375-B963-8BC9A70CF4A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1610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&gt; m1&lt;-</a:t>
            </a:r>
            <a:r>
              <a:rPr lang="en-US" altLang="ko-KR" dirty="0" err="1" smtClean="0"/>
              <a:t>model.matrix</a:t>
            </a:r>
            <a:r>
              <a:rPr lang="en-US" altLang="ko-KR" dirty="0" smtClean="0"/>
              <a:t>(~grouptype+SEX+G1E_BMI+income</a:t>
            </a:r>
          </a:p>
          <a:p>
            <a:r>
              <a:rPr lang="en-US" altLang="ko-KR" dirty="0" smtClean="0"/>
              <a:t>                 +cci_group+activity+non_small_yn+SEER_GRP+surgery_yn+radio_yn+system_yn,data=data5)[,-1] </a:t>
            </a:r>
          </a:p>
          <a:p>
            <a:r>
              <a:rPr lang="en-US" altLang="ko-KR" dirty="0" smtClean="0"/>
              <a:t>&gt; crr5_1 &lt;- </a:t>
            </a:r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=data5$day_diff,fstatus=data5$dth_type,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=0, cov1=m1,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=1)</a:t>
            </a:r>
          </a:p>
          <a:p>
            <a:r>
              <a:rPr lang="en-US" altLang="ko-KR" dirty="0" smtClean="0"/>
              <a:t>&gt; summary(crr5_1)</a:t>
            </a:r>
          </a:p>
          <a:p>
            <a:r>
              <a:rPr lang="en-US" altLang="ko-KR" dirty="0" smtClean="0"/>
              <a:t>Competing Risks Regression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Call:</a:t>
            </a:r>
          </a:p>
          <a:p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 = data5$day_diff, </a:t>
            </a:r>
            <a:r>
              <a:rPr lang="en-US" altLang="ko-KR" dirty="0" err="1" smtClean="0"/>
              <a:t>fstatus</a:t>
            </a:r>
            <a:r>
              <a:rPr lang="en-US" altLang="ko-KR" dirty="0" smtClean="0"/>
              <a:t> = data5$dth_type, cov1 = m1, 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 = 1,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 = 0)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se(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     z p-value</a:t>
            </a:r>
          </a:p>
          <a:p>
            <a:r>
              <a:rPr lang="en-US" altLang="ko-KR" dirty="0" smtClean="0"/>
              <a:t>grouptype002   -0.4024     0.669  0.03785 -10.632 0.0e+00</a:t>
            </a:r>
          </a:p>
          <a:p>
            <a:r>
              <a:rPr lang="en-US" altLang="ko-KR" dirty="0" smtClean="0"/>
              <a:t>SEX1            0.4990     1.647  0.01719  29.036 0.0e+00</a:t>
            </a:r>
          </a:p>
          <a:p>
            <a:r>
              <a:rPr lang="en-US" altLang="ko-KR" dirty="0" smtClean="0"/>
              <a:t>G1E_BMI        -0.0222     0.978  0.00311  -7.129 1.0e-12</a:t>
            </a:r>
          </a:p>
          <a:p>
            <a:r>
              <a:rPr lang="en-US" altLang="ko-KR" dirty="0" smtClean="0"/>
              <a:t>income2        -0.0471     0.954  0.02999  -1.571 1.2e-01</a:t>
            </a:r>
          </a:p>
          <a:p>
            <a:r>
              <a:rPr lang="en-US" altLang="ko-KR" dirty="0" smtClean="0"/>
              <a:t>income3        -0.0128     0.987  0.02860  -0.447 6.6e-01</a:t>
            </a:r>
          </a:p>
          <a:p>
            <a:r>
              <a:rPr lang="en-US" altLang="ko-KR" dirty="0" smtClean="0"/>
              <a:t>income4        -0.0878     0.916  0.02675  -3.282 1.0e-03</a:t>
            </a:r>
          </a:p>
          <a:p>
            <a:r>
              <a:rPr lang="en-US" altLang="ko-KR" dirty="0" smtClean="0"/>
              <a:t>income5        -0.0380     0.963  0.02418  -1.572 1.2e-01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0.3888     1.475  0.02692  14.440 0.0e+00</a:t>
            </a:r>
          </a:p>
          <a:p>
            <a:r>
              <a:rPr lang="en-US" altLang="ko-KR" dirty="0" smtClean="0"/>
              <a:t>cci_group1-2    0.1563     1.169  0.02064   7.574 3.6e-14</a:t>
            </a:r>
          </a:p>
          <a:p>
            <a:r>
              <a:rPr lang="en-US" altLang="ko-KR" dirty="0" smtClean="0"/>
              <a:t>cci_group3-4    0.3399     1.405  0.03252  10.453 0.0e+00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-0.1411     0.868  0.01997  -7.065 1.6e-12</a:t>
            </a:r>
          </a:p>
          <a:p>
            <a:r>
              <a:rPr lang="en-US" altLang="ko-KR" dirty="0" smtClean="0"/>
              <a:t>non_small_yn1  -0.4354     0.647  0.03237 -13.452 0.0e+00</a:t>
            </a:r>
          </a:p>
          <a:p>
            <a:r>
              <a:rPr lang="en-US" altLang="ko-KR" dirty="0" smtClean="0"/>
              <a:t>SEER_GRP2       1.0717     2.920  0.03217  33.310 0.0e+00</a:t>
            </a:r>
          </a:p>
          <a:p>
            <a:r>
              <a:rPr lang="en-US" altLang="ko-KR" dirty="0" smtClean="0"/>
              <a:t>SEER_GRP7       1.8042     6.075  0.03549  50.843 0.0e+00</a:t>
            </a:r>
          </a:p>
          <a:p>
            <a:r>
              <a:rPr lang="en-US" altLang="ko-KR" dirty="0" smtClean="0"/>
              <a:t>SEER_GRP9       0.8783     2.407  0.04583  19.164 0.0e+00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-1.2342     0.291  0.02611 -47.263 0.0e+00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0.1436     1.154  0.02075   6.921 4.5e-12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-0.1998     0.819  0.02060  -9.695 0.0e+00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(-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2.5% 97.5%</a:t>
            </a:r>
          </a:p>
          <a:p>
            <a:r>
              <a:rPr lang="en-US" altLang="ko-KR" dirty="0" smtClean="0"/>
              <a:t>grouptype002       0.669      1.495 0.621 0.720</a:t>
            </a:r>
          </a:p>
          <a:p>
            <a:r>
              <a:rPr lang="en-US" altLang="ko-KR" dirty="0" smtClean="0"/>
              <a:t>SEX1               1.647      0.607 1.593 1.704</a:t>
            </a:r>
          </a:p>
          <a:p>
            <a:r>
              <a:rPr lang="en-US" altLang="ko-KR" dirty="0" smtClean="0"/>
              <a:t>G1E_BMI            0.978      1.022 0.972 0.984</a:t>
            </a:r>
          </a:p>
          <a:p>
            <a:r>
              <a:rPr lang="en-US" altLang="ko-KR" dirty="0" smtClean="0"/>
              <a:t>income2            0.954      1.048 0.900 1.012</a:t>
            </a:r>
          </a:p>
          <a:p>
            <a:r>
              <a:rPr lang="en-US" altLang="ko-KR" dirty="0" smtClean="0"/>
              <a:t>income3            0.987      1.013 0.933 1.044</a:t>
            </a:r>
          </a:p>
          <a:p>
            <a:r>
              <a:rPr lang="en-US" altLang="ko-KR" dirty="0" smtClean="0"/>
              <a:t>income4            0.916      1.092 0.869 0.965</a:t>
            </a:r>
          </a:p>
          <a:p>
            <a:r>
              <a:rPr lang="en-US" altLang="ko-KR" dirty="0" smtClean="0"/>
              <a:t>income5            0.963      1.039 0.918 1.009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1.475      0.678 1.399 1.555</a:t>
            </a:r>
          </a:p>
          <a:p>
            <a:r>
              <a:rPr lang="en-US" altLang="ko-KR" dirty="0" smtClean="0"/>
              <a:t>cci_group1-2       1.169      0.855 1.123 1.217</a:t>
            </a:r>
          </a:p>
          <a:p>
            <a:r>
              <a:rPr lang="en-US" altLang="ko-KR" dirty="0" smtClean="0"/>
              <a:t>cci_group3-4       1.405      0.712 1.318 1.497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0.868      1.152 0.835 0.903</a:t>
            </a:r>
          </a:p>
          <a:p>
            <a:r>
              <a:rPr lang="en-US" altLang="ko-KR" dirty="0" smtClean="0"/>
              <a:t>non_small_yn1      0.647      1.546 0.607 0.689</a:t>
            </a:r>
          </a:p>
          <a:p>
            <a:r>
              <a:rPr lang="en-US" altLang="ko-KR" dirty="0" smtClean="0"/>
              <a:t>SEER_GRP2          2.920      0.342 2.742 3.110</a:t>
            </a:r>
          </a:p>
          <a:p>
            <a:r>
              <a:rPr lang="en-US" altLang="ko-KR" dirty="0" smtClean="0"/>
              <a:t>SEER_GRP7          6.075      0.165 5.667 6.513</a:t>
            </a:r>
          </a:p>
          <a:p>
            <a:r>
              <a:rPr lang="en-US" altLang="ko-KR" dirty="0" smtClean="0"/>
              <a:t>SEER_GRP9          2.407      0.415 2.200 2.633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0.291      3.435 0.277 0.306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1.154      0.866 1.108 1.202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0.819      1.221 0.787 0.853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Num. cases = 34984</a:t>
            </a:r>
          </a:p>
          <a:p>
            <a:r>
              <a:rPr lang="en-US" altLang="ko-KR" dirty="0" smtClean="0"/>
              <a:t>Pseudo Log-likelihood = -159486 </a:t>
            </a:r>
          </a:p>
          <a:p>
            <a:r>
              <a:rPr lang="en-US" altLang="ko-KR" dirty="0" smtClean="0"/>
              <a:t>Pseudo likelihood ratio test = 19778  on 18 </a:t>
            </a:r>
            <a:r>
              <a:rPr lang="en-US" altLang="ko-KR" dirty="0" err="1" smtClean="0"/>
              <a:t>df</a:t>
            </a:r>
            <a:r>
              <a:rPr lang="en-US" altLang="ko-KR" dirty="0" smtClean="0"/>
              <a:t>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5C7A54-757C-4375-B963-8BC9A70CF4A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6643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&gt; m1&lt;-</a:t>
            </a:r>
            <a:r>
              <a:rPr lang="en-US" altLang="ko-KR" dirty="0" err="1" smtClean="0"/>
              <a:t>model.matrix</a:t>
            </a:r>
            <a:r>
              <a:rPr lang="en-US" altLang="ko-KR" dirty="0" smtClean="0"/>
              <a:t>(~grouptype+SEX+G1E_BMI+income</a:t>
            </a:r>
          </a:p>
          <a:p>
            <a:r>
              <a:rPr lang="en-US" altLang="ko-KR" dirty="0" smtClean="0"/>
              <a:t>                 +cci_group+activity+non_small_yn+SEER_GRP+surgery_yn+radio_yn+system_yn,data=data5)[,-1] </a:t>
            </a:r>
          </a:p>
          <a:p>
            <a:r>
              <a:rPr lang="en-US" altLang="ko-KR" dirty="0" smtClean="0"/>
              <a:t>&gt; crr5_1 &lt;- </a:t>
            </a:r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=data5$day_diff,fstatus=data5$dth_type,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=0, cov1=m1,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=1)</a:t>
            </a:r>
          </a:p>
          <a:p>
            <a:r>
              <a:rPr lang="en-US" altLang="ko-KR" dirty="0" smtClean="0"/>
              <a:t>&gt; summary(crr5_1)</a:t>
            </a:r>
          </a:p>
          <a:p>
            <a:r>
              <a:rPr lang="en-US" altLang="ko-KR" dirty="0" smtClean="0"/>
              <a:t>Competing Risks Regression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Call:</a:t>
            </a:r>
          </a:p>
          <a:p>
            <a:r>
              <a:rPr lang="en-US" altLang="ko-KR" dirty="0" err="1" smtClean="0"/>
              <a:t>crr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ftime</a:t>
            </a:r>
            <a:r>
              <a:rPr lang="en-US" altLang="ko-KR" dirty="0" smtClean="0"/>
              <a:t> = data5$day_diff, </a:t>
            </a:r>
            <a:r>
              <a:rPr lang="en-US" altLang="ko-KR" dirty="0" err="1" smtClean="0"/>
              <a:t>fstatus</a:t>
            </a:r>
            <a:r>
              <a:rPr lang="en-US" altLang="ko-KR" dirty="0" smtClean="0"/>
              <a:t> = data5$dth_type, cov1 = m1, 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failcode</a:t>
            </a:r>
            <a:r>
              <a:rPr lang="en-US" altLang="ko-KR" dirty="0" smtClean="0"/>
              <a:t> = 1, </a:t>
            </a:r>
            <a:r>
              <a:rPr lang="en-US" altLang="ko-KR" dirty="0" err="1" smtClean="0"/>
              <a:t>cencode</a:t>
            </a:r>
            <a:r>
              <a:rPr lang="en-US" altLang="ko-KR" dirty="0" smtClean="0"/>
              <a:t> = 0)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  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se(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     z p-value</a:t>
            </a:r>
          </a:p>
          <a:p>
            <a:r>
              <a:rPr lang="en-US" altLang="ko-KR" dirty="0" smtClean="0"/>
              <a:t>grouptype002   -0.4024     0.669  0.03785 -10.632 0.0e+00</a:t>
            </a:r>
          </a:p>
          <a:p>
            <a:r>
              <a:rPr lang="en-US" altLang="ko-KR" dirty="0" smtClean="0"/>
              <a:t>SEX1            0.4990     1.647  0.01719  29.036 0.0e+00</a:t>
            </a:r>
          </a:p>
          <a:p>
            <a:r>
              <a:rPr lang="en-US" altLang="ko-KR" dirty="0" smtClean="0"/>
              <a:t>G1E_BMI        -0.0222     0.978  0.00311  -7.129 1.0e-12</a:t>
            </a:r>
          </a:p>
          <a:p>
            <a:r>
              <a:rPr lang="en-US" altLang="ko-KR" dirty="0" smtClean="0"/>
              <a:t>income2        -0.0471     0.954  0.02999  -1.571 1.2e-01</a:t>
            </a:r>
          </a:p>
          <a:p>
            <a:r>
              <a:rPr lang="en-US" altLang="ko-KR" dirty="0" smtClean="0"/>
              <a:t>income3        -0.0128     0.987  0.02860  -0.447 6.6e-01</a:t>
            </a:r>
          </a:p>
          <a:p>
            <a:r>
              <a:rPr lang="en-US" altLang="ko-KR" dirty="0" smtClean="0"/>
              <a:t>income4        -0.0878     0.916  0.02675  -3.282 1.0e-03</a:t>
            </a:r>
          </a:p>
          <a:p>
            <a:r>
              <a:rPr lang="en-US" altLang="ko-KR" dirty="0" smtClean="0"/>
              <a:t>income5        -0.0380     0.963  0.02418  -1.572 1.2e-01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0.3888     1.475  0.02692  14.440 0.0e+00</a:t>
            </a:r>
          </a:p>
          <a:p>
            <a:r>
              <a:rPr lang="en-US" altLang="ko-KR" dirty="0" smtClean="0"/>
              <a:t>cci_group1-2    0.1563     1.169  0.02064   7.574 3.6e-14</a:t>
            </a:r>
          </a:p>
          <a:p>
            <a:r>
              <a:rPr lang="en-US" altLang="ko-KR" dirty="0" smtClean="0"/>
              <a:t>cci_group3-4    0.3399     1.405  0.03252  10.453 0.0e+00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-0.1411     0.868  0.01997  -7.065 1.6e-12</a:t>
            </a:r>
          </a:p>
          <a:p>
            <a:r>
              <a:rPr lang="en-US" altLang="ko-KR" dirty="0" smtClean="0"/>
              <a:t>non_small_yn1  -0.4354     0.647  0.03237 -13.452 0.0e+00</a:t>
            </a:r>
          </a:p>
          <a:p>
            <a:r>
              <a:rPr lang="en-US" altLang="ko-KR" dirty="0" smtClean="0"/>
              <a:t>SEER_GRP2       1.0717     2.920  0.03217  33.310 0.0e+00</a:t>
            </a:r>
          </a:p>
          <a:p>
            <a:r>
              <a:rPr lang="en-US" altLang="ko-KR" dirty="0" smtClean="0"/>
              <a:t>SEER_GRP7       1.8042     6.075  0.03549  50.843 0.0e+00</a:t>
            </a:r>
          </a:p>
          <a:p>
            <a:r>
              <a:rPr lang="en-US" altLang="ko-KR" dirty="0" smtClean="0"/>
              <a:t>SEER_GRP9       0.8783     2.407  0.04583  19.164 0.0e+00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-1.2342     0.291  0.02611 -47.263 0.0e+00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0.1436     1.154  0.02075   6.921 4.5e-12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-0.1998     0.819  0.02060  -9.695 0.0e+00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              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</a:t>
            </a:r>
            <a:r>
              <a:rPr lang="en-US" altLang="ko-KR" dirty="0" err="1" smtClean="0"/>
              <a:t>exp</a:t>
            </a:r>
            <a:r>
              <a:rPr lang="en-US" altLang="ko-KR" dirty="0" smtClean="0"/>
              <a:t>(-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)  2.5% 97.5%</a:t>
            </a:r>
          </a:p>
          <a:p>
            <a:r>
              <a:rPr lang="en-US" altLang="ko-KR" dirty="0" smtClean="0"/>
              <a:t>grouptype002       0.669      1.495 0.621 0.720</a:t>
            </a:r>
          </a:p>
          <a:p>
            <a:r>
              <a:rPr lang="en-US" altLang="ko-KR" dirty="0" smtClean="0"/>
              <a:t>SEX1               1.647      0.607 1.593 1.704</a:t>
            </a:r>
          </a:p>
          <a:p>
            <a:r>
              <a:rPr lang="en-US" altLang="ko-KR" dirty="0" smtClean="0"/>
              <a:t>G1E_BMI            0.978      1.022 0.972 0.984</a:t>
            </a:r>
          </a:p>
          <a:p>
            <a:r>
              <a:rPr lang="en-US" altLang="ko-KR" dirty="0" smtClean="0"/>
              <a:t>income2            0.954      1.048 0.900 1.012</a:t>
            </a:r>
          </a:p>
          <a:p>
            <a:r>
              <a:rPr lang="en-US" altLang="ko-KR" dirty="0" smtClean="0"/>
              <a:t>income3            0.987      1.013 0.933 1.044</a:t>
            </a:r>
          </a:p>
          <a:p>
            <a:r>
              <a:rPr lang="en-US" altLang="ko-KR" dirty="0" smtClean="0"/>
              <a:t>income4            0.916      1.092 0.869 0.965</a:t>
            </a:r>
          </a:p>
          <a:p>
            <a:r>
              <a:rPr lang="en-US" altLang="ko-KR" dirty="0" smtClean="0"/>
              <a:t>income5            0.963      1.039 0.918 1.009</a:t>
            </a:r>
          </a:p>
          <a:p>
            <a:r>
              <a:rPr lang="en-US" altLang="ko-KR" dirty="0" err="1" smtClean="0"/>
              <a:t>cci_group</a:t>
            </a:r>
            <a:r>
              <a:rPr lang="en-US" altLang="ko-KR" dirty="0" smtClean="0"/>
              <a:t>&gt;=5       1.475      0.678 1.399 1.555</a:t>
            </a:r>
          </a:p>
          <a:p>
            <a:r>
              <a:rPr lang="en-US" altLang="ko-KR" dirty="0" smtClean="0"/>
              <a:t>cci_group1-2       1.169      0.855 1.123 1.217</a:t>
            </a:r>
          </a:p>
          <a:p>
            <a:r>
              <a:rPr lang="en-US" altLang="ko-KR" dirty="0" smtClean="0"/>
              <a:t>cci_group3-4       1.405      0.712 1.318 1.497</a:t>
            </a:r>
          </a:p>
          <a:p>
            <a:r>
              <a:rPr lang="en-US" altLang="ko-KR" dirty="0" err="1" smtClean="0"/>
              <a:t>activityactive</a:t>
            </a:r>
            <a:r>
              <a:rPr lang="en-US" altLang="ko-KR" dirty="0" smtClean="0"/>
              <a:t>     0.868      1.152 0.835 0.903</a:t>
            </a:r>
          </a:p>
          <a:p>
            <a:r>
              <a:rPr lang="en-US" altLang="ko-KR" dirty="0" smtClean="0"/>
              <a:t>non_small_yn1      0.647      1.546 0.607 0.689</a:t>
            </a:r>
          </a:p>
          <a:p>
            <a:r>
              <a:rPr lang="en-US" altLang="ko-KR" dirty="0" smtClean="0"/>
              <a:t>SEER_GRP2          2.920      0.342 2.742 3.110</a:t>
            </a:r>
          </a:p>
          <a:p>
            <a:r>
              <a:rPr lang="en-US" altLang="ko-KR" dirty="0" smtClean="0"/>
              <a:t>SEER_GRP7          6.075      0.165 5.667 6.513</a:t>
            </a:r>
          </a:p>
          <a:p>
            <a:r>
              <a:rPr lang="en-US" altLang="ko-KR" dirty="0" smtClean="0"/>
              <a:t>SEER_GRP9          2.407      0.415 2.200 2.633</a:t>
            </a:r>
          </a:p>
          <a:p>
            <a:r>
              <a:rPr lang="en-US" altLang="ko-KR" dirty="0" err="1" smtClean="0"/>
              <a:t>surgery_ynyes</a:t>
            </a:r>
            <a:r>
              <a:rPr lang="en-US" altLang="ko-KR" dirty="0" smtClean="0"/>
              <a:t>      0.291      3.435 0.277 0.306</a:t>
            </a:r>
          </a:p>
          <a:p>
            <a:r>
              <a:rPr lang="en-US" altLang="ko-KR" dirty="0" err="1" smtClean="0"/>
              <a:t>radio_ynyes</a:t>
            </a:r>
            <a:r>
              <a:rPr lang="en-US" altLang="ko-KR" dirty="0" smtClean="0"/>
              <a:t>        1.154      0.866 1.108 1.202</a:t>
            </a:r>
          </a:p>
          <a:p>
            <a:r>
              <a:rPr lang="en-US" altLang="ko-KR" dirty="0" err="1" smtClean="0"/>
              <a:t>system_ynyes</a:t>
            </a:r>
            <a:r>
              <a:rPr lang="en-US" altLang="ko-KR" dirty="0" smtClean="0"/>
              <a:t>       0.819      1.221 0.787 0.853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Num. cases = 34984</a:t>
            </a:r>
          </a:p>
          <a:p>
            <a:r>
              <a:rPr lang="en-US" altLang="ko-KR" dirty="0" smtClean="0"/>
              <a:t>Pseudo Log-likelihood = -159486 </a:t>
            </a:r>
          </a:p>
          <a:p>
            <a:r>
              <a:rPr lang="en-US" altLang="ko-KR" dirty="0" smtClean="0"/>
              <a:t>Pseudo likelihood ratio test = 19778  on 18 </a:t>
            </a:r>
            <a:r>
              <a:rPr lang="en-US" altLang="ko-KR" dirty="0" err="1" smtClean="0"/>
              <a:t>df</a:t>
            </a:r>
            <a:r>
              <a:rPr lang="en-US" altLang="ko-KR" dirty="0" smtClean="0"/>
              <a:t>,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5C7A54-757C-4375-B963-8BC9A70CF4A1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8936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3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625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605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68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2964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95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1998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9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926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14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883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FCCC4-A2EC-4AAD-9667-EBD49DB1332E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45FEC-B015-4F5C-95CD-141BC7F521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068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 cancer mortality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ko-KR" altLang="ko-KR" dirty="0" smtClean="0"/>
              <a:t>≥</a:t>
            </a:r>
            <a:r>
              <a:rPr lang="en-US" altLang="ko-KR" dirty="0" smtClean="0"/>
              <a:t>20PYs smoking </a:t>
            </a:r>
          </a:p>
          <a:p>
            <a:pPr marL="0" indent="0">
              <a:buNone/>
            </a:pPr>
            <a:r>
              <a:rPr lang="en-US" altLang="ko-KR" dirty="0" smtClean="0"/>
              <a:t>2. AGED 50-80, </a:t>
            </a:r>
            <a:r>
              <a:rPr lang="en-US" altLang="ko-KR" dirty="0"/>
              <a:t>&lt;</a:t>
            </a:r>
            <a:r>
              <a:rPr lang="en-US" altLang="ko-KR" dirty="0" smtClean="0"/>
              <a:t>20PYs smoking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3. AGED 50-80, individuals who have never-smoked)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Fine-gray model: </a:t>
            </a:r>
            <a:r>
              <a:rPr lang="en-US" altLang="ko-KR" dirty="0" smtClean="0"/>
              <a:t>smoking status, </a:t>
            </a:r>
            <a:r>
              <a:rPr lang="en-US" altLang="ko-KR" dirty="0" err="1" smtClean="0"/>
              <a:t>pack_year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제외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112452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07100" y="431040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793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10300" y="494540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3359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 cancer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ko-KR" altLang="ko-KR" dirty="0" smtClean="0"/>
              <a:t>≥</a:t>
            </a:r>
            <a:r>
              <a:rPr lang="en-US" altLang="ko-KR" dirty="0" smtClean="0"/>
              <a:t>20years smoking </a:t>
            </a:r>
          </a:p>
          <a:p>
            <a:pPr marL="0" indent="0">
              <a:buNone/>
            </a:pPr>
            <a:r>
              <a:rPr lang="en-US" altLang="ko-KR" dirty="0" smtClean="0"/>
              <a:t>2. AGED 50-80, </a:t>
            </a:r>
            <a:r>
              <a:rPr lang="en-US" altLang="ko-KR" dirty="0"/>
              <a:t>&lt;</a:t>
            </a:r>
            <a:r>
              <a:rPr lang="en-US" altLang="ko-KR" dirty="0" smtClean="0"/>
              <a:t>20years smoking)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Fine-gray model</a:t>
            </a:r>
            <a:r>
              <a:rPr lang="en-US" altLang="ko-KR" dirty="0" smtClean="0"/>
              <a:t>: </a:t>
            </a:r>
            <a:r>
              <a:rPr lang="ko-KR" altLang="en-US" dirty="0" smtClean="0"/>
              <a:t>모든 변수 포함</a:t>
            </a:r>
            <a:r>
              <a:rPr lang="en-US" altLang="ko-KR" dirty="0" smtClean="0"/>
              <a:t>  </a:t>
            </a:r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89895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399" y="60519"/>
            <a:ext cx="12190382" cy="6771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324890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399" y="60519"/>
            <a:ext cx="12190382" cy="6771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70686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 cancer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ko-KR" altLang="ko-KR" dirty="0" smtClean="0"/>
              <a:t>≥</a:t>
            </a:r>
            <a:r>
              <a:rPr lang="en-US" altLang="ko-KR" dirty="0" smtClean="0"/>
              <a:t>20PY smoking </a:t>
            </a:r>
          </a:p>
          <a:p>
            <a:pPr marL="0" indent="0">
              <a:buNone/>
            </a:pPr>
            <a:r>
              <a:rPr lang="en-US" altLang="ko-KR" dirty="0" smtClean="0"/>
              <a:t>2. AGED 40-49, 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≥</a:t>
            </a:r>
            <a:r>
              <a:rPr lang="en-US" altLang="ko-KR" dirty="0" smtClean="0"/>
              <a:t>20PY smoking)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Fine-gray </a:t>
            </a:r>
            <a:r>
              <a:rPr lang="en-US" altLang="ko-KR" dirty="0" smtClean="0"/>
              <a:t>model</a:t>
            </a:r>
            <a:r>
              <a:rPr lang="en-US" altLang="ko-KR" dirty="0" smtClean="0"/>
              <a:t>: age </a:t>
            </a:r>
            <a:r>
              <a:rPr lang="ko-KR" altLang="en-US" dirty="0" smtClean="0"/>
              <a:t>변수 제외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4028878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9399" y="60519"/>
            <a:ext cx="12190382" cy="6771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18175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70600" y="532640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2103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 cancer mortality</a:t>
            </a:r>
            <a:br>
              <a:rPr lang="en-US" altLang="ko-KR" dirty="0" smtClean="0"/>
            </a:br>
            <a:r>
              <a:rPr lang="en-US" altLang="ko-KR" dirty="0" smtClean="0"/>
              <a:t>(1.AGED 50-80, </a:t>
            </a:r>
            <a:r>
              <a:rPr lang="en-US" altLang="ko-KR" dirty="0"/>
              <a:t>&lt;</a:t>
            </a:r>
            <a:r>
              <a:rPr lang="en-US" altLang="ko-KR" dirty="0" smtClean="0"/>
              <a:t>20</a:t>
            </a:r>
            <a:r>
              <a:rPr lang="en-US" altLang="ko-KR" dirty="0" smtClean="0"/>
              <a:t>PY</a:t>
            </a:r>
            <a:r>
              <a:rPr lang="en-US" altLang="ko-KR" dirty="0" smtClean="0"/>
              <a:t> </a:t>
            </a:r>
            <a:r>
              <a:rPr lang="en-US" altLang="ko-KR" dirty="0" smtClean="0"/>
              <a:t>smoking </a:t>
            </a:r>
          </a:p>
          <a:p>
            <a:pPr marL="0" indent="0">
              <a:buNone/>
            </a:pPr>
            <a:r>
              <a:rPr lang="en-US" altLang="ko-KR" dirty="0" smtClean="0"/>
              <a:t>2. AGED 40-49, </a:t>
            </a: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en-US" altLang="ko-KR" dirty="0" smtClean="0"/>
              <a:t>20PY </a:t>
            </a:r>
            <a:r>
              <a:rPr lang="en-US" altLang="ko-KR" dirty="0" smtClean="0"/>
              <a:t>smoking)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Fine-gray model</a:t>
            </a:r>
            <a:r>
              <a:rPr lang="en-US" altLang="ko-KR" dirty="0" smtClean="0"/>
              <a:t>: </a:t>
            </a:r>
            <a:r>
              <a:rPr lang="en-US" altLang="ko-KR" dirty="0" smtClean="0"/>
              <a:t>age</a:t>
            </a:r>
            <a:r>
              <a:rPr lang="ko-KR" altLang="en-US" dirty="0" smtClean="0"/>
              <a:t> </a:t>
            </a:r>
            <a:r>
              <a:rPr lang="ko-KR" altLang="en-US" dirty="0" smtClean="0"/>
              <a:t>변수 </a:t>
            </a:r>
            <a:r>
              <a:rPr lang="ko-KR" altLang="en-US" dirty="0" smtClean="0"/>
              <a:t>제외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524975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70600" y="517141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9922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23000" y="957840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3641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343764" y="4239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 smtClean="0"/>
              <a:t>Lung cancer mortality</a:t>
            </a:r>
            <a:br>
              <a:rPr lang="en-US" altLang="ko-KR" dirty="0" smtClean="0"/>
            </a:br>
            <a:r>
              <a:rPr lang="en-US" altLang="ko-KR" dirty="0" smtClean="0"/>
              <a:t>(1.AGED 50-80, Never-smoker</a:t>
            </a:r>
          </a:p>
          <a:p>
            <a:pPr marL="0" indent="0">
              <a:buNone/>
            </a:pPr>
            <a:r>
              <a:rPr lang="en-US" altLang="ko-KR" dirty="0" smtClean="0"/>
              <a:t>2. AGED 40-49, </a:t>
            </a: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Never-smoker</a:t>
            </a:r>
            <a:r>
              <a:rPr lang="en-US" altLang="ko-KR" dirty="0" smtClean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smtClean="0"/>
              <a:t>Multivariable cox model: </a:t>
            </a:r>
            <a:r>
              <a:rPr lang="en-US" altLang="ko-KR" dirty="0"/>
              <a:t>age</a:t>
            </a:r>
            <a:r>
              <a:rPr lang="ko-KR" altLang="en-US" dirty="0"/>
              <a:t> 변수 제외</a:t>
            </a:r>
            <a:endParaRPr lang="en-US" altLang="ko-KR" dirty="0"/>
          </a:p>
          <a:p>
            <a:pPr marL="0" indent="0">
              <a:buNone/>
            </a:pP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985339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27800" y="421640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7561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27800" y="612140"/>
            <a:ext cx="10079640" cy="559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62627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3373</Words>
  <Application>Microsoft Office PowerPoint</Application>
  <PresentationFormat>와이드스크린</PresentationFormat>
  <Paragraphs>597</Paragraphs>
  <Slides>15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28</cp:revision>
  <dcterms:created xsi:type="dcterms:W3CDTF">2025-11-14T05:43:29Z</dcterms:created>
  <dcterms:modified xsi:type="dcterms:W3CDTF">2025-11-14T08:36:28Z</dcterms:modified>
</cp:coreProperties>
</file>