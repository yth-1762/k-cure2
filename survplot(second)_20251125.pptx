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60" r:id="rId4"/>
    <p:sldId id="261" r:id="rId5"/>
    <p:sldId id="263" r:id="rId6"/>
    <p:sldId id="264" r:id="rId7"/>
    <p:sldId id="266" r:id="rId8"/>
    <p:sldId id="267" r:id="rId9"/>
    <p:sldId id="269" r:id="rId10"/>
    <p:sldId id="270" r:id="rId11"/>
    <p:sldId id="272" r:id="rId12"/>
    <p:sldId id="273" r:id="rId13"/>
    <p:sldId id="275" r:id="rId14"/>
    <p:sldId id="276" r:id="rId15"/>
    <p:sldId id="278" r:id="rId16"/>
    <p:sldId id="279" r:id="rId17"/>
    <p:sldId id="281" r:id="rId18"/>
    <p:sldId id="282" r:id="rId19"/>
    <p:sldId id="284" r:id="rId20"/>
    <p:sldId id="285" r:id="rId21"/>
    <p:sldId id="287" r:id="rId22"/>
    <p:sldId id="288" r:id="rId23"/>
    <p:sldId id="290" r:id="rId24"/>
    <p:sldId id="291" r:id="rId2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62" autoAdjust="0"/>
    <p:restoredTop sz="94660"/>
  </p:normalViewPr>
  <p:slideViewPr>
    <p:cSldViewPr snapToGrid="0">
      <p:cViewPr varScale="1">
        <p:scale>
          <a:sx n="80" d="100"/>
          <a:sy n="80" d="100"/>
        </p:scale>
        <p:origin x="102" y="7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FEE076-6296-4647-9506-445EB9E78247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08D57A-3B7D-4655-A601-E4D8D0933F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686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01BA5-1B17-4864-88A8-3ECAE2467596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7981A-9ED9-4984-923A-2B6F9CDA13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1914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01BA5-1B17-4864-88A8-3ECAE2467596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7981A-9ED9-4984-923A-2B6F9CDA13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610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01BA5-1B17-4864-88A8-3ECAE2467596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7981A-9ED9-4984-923A-2B6F9CDA13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6716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01BA5-1B17-4864-88A8-3ECAE2467596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7981A-9ED9-4984-923A-2B6F9CDA13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8214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01BA5-1B17-4864-88A8-3ECAE2467596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7981A-9ED9-4984-923A-2B6F9CDA13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1990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01BA5-1B17-4864-88A8-3ECAE2467596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7981A-9ED9-4984-923A-2B6F9CDA13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0785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01BA5-1B17-4864-88A8-3ECAE2467596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7981A-9ED9-4984-923A-2B6F9CDA13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1665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01BA5-1B17-4864-88A8-3ECAE2467596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7981A-9ED9-4984-923A-2B6F9CDA13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1971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01BA5-1B17-4864-88A8-3ECAE2467596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7981A-9ED9-4984-923A-2B6F9CDA13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1357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01BA5-1B17-4864-88A8-3ECAE2467596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7981A-9ED9-4984-923A-2B6F9CDA13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0952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01BA5-1B17-4864-88A8-3ECAE2467596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7981A-9ED9-4984-923A-2B6F9CDA13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6660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F01BA5-1B17-4864-88A8-3ECAE2467596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37981A-9ED9-4984-923A-2B6F9CDA13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7719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3280" y="106920"/>
            <a:ext cx="11627542" cy="3160079"/>
          </a:xfrm>
          <a:prstGeom prst="rect">
            <a:avLst/>
          </a:prstGeom>
          <a:noFill/>
          <a:ln>
            <a:noFill/>
          </a:ln>
        </p:spPr>
        <p:txBody>
          <a:bodyPr wrap="square" lIns="90000" tIns="45000" rIns="90000" bIns="45000">
            <a:noAutofit/>
          </a:bodyPr>
          <a:lstStyle/>
          <a:p>
            <a:pPr marL="0" marR="0" lvl="0" indent="0" algn="l">
              <a:buNone/>
            </a:pPr>
            <a:r>
              <a:rPr lang="en-US" sz="3200" dirty="0">
                <a:solidFill>
                  <a:srgbClr val="000000"/>
                </a:solidFill>
                <a:latin typeface="+mj-lt"/>
                <a:ea typeface="맑은 고딕" pitchFamily="16"/>
                <a:cs typeface="Lucida Sans" pitchFamily="16"/>
              </a:rPr>
              <a:t>All cause mortality(1. Aged 50-80, &gt;= </a:t>
            </a:r>
            <a:r>
              <a:rPr lang="en-US" sz="3200" dirty="0" smtClean="0">
                <a:solidFill>
                  <a:srgbClr val="000000"/>
                </a:solidFill>
                <a:latin typeface="+mj-lt"/>
                <a:ea typeface="맑은 고딕" pitchFamily="16"/>
                <a:cs typeface="Lucida Sans" pitchFamily="16"/>
              </a:rPr>
              <a:t>20PY smoking history </a:t>
            </a:r>
            <a:r>
              <a:rPr lang="en-US" sz="3200" dirty="0">
                <a:solidFill>
                  <a:srgbClr val="000000"/>
                </a:solidFill>
                <a:latin typeface="+mj-lt"/>
                <a:ea typeface="맑은 고딕" pitchFamily="16"/>
                <a:cs typeface="Lucida Sans" pitchFamily="16"/>
              </a:rPr>
              <a:t>2. Aged 50-80, &lt; </a:t>
            </a:r>
            <a:r>
              <a:rPr lang="en-US" sz="3200" dirty="0" smtClean="0">
                <a:solidFill>
                  <a:srgbClr val="000000"/>
                </a:solidFill>
                <a:latin typeface="+mj-lt"/>
                <a:ea typeface="맑은 고딕" pitchFamily="16"/>
                <a:cs typeface="Lucida Sans" pitchFamily="16"/>
              </a:rPr>
              <a:t>20PY smoking history </a:t>
            </a:r>
            <a:r>
              <a:rPr lang="en-US" sz="3200" dirty="0">
                <a:solidFill>
                  <a:srgbClr val="000000"/>
                </a:solidFill>
                <a:latin typeface="+mj-lt"/>
                <a:ea typeface="맑은 고딕" pitchFamily="16"/>
                <a:cs typeface="Lucida Sans" pitchFamily="16"/>
              </a:rPr>
              <a:t>3. Aged 50-80, </a:t>
            </a:r>
            <a:r>
              <a:rPr lang="en-US" sz="3200" dirty="0" smtClean="0">
                <a:solidFill>
                  <a:srgbClr val="000000"/>
                </a:solidFill>
                <a:latin typeface="+mj-lt"/>
                <a:ea typeface="맑은 고딕" pitchFamily="16"/>
                <a:cs typeface="Lucida Sans" pitchFamily="16"/>
              </a:rPr>
              <a:t>never </a:t>
            </a:r>
            <a:r>
              <a:rPr lang="en-US" sz="3200" dirty="0">
                <a:solidFill>
                  <a:srgbClr val="000000"/>
                </a:solidFill>
                <a:latin typeface="+mj-lt"/>
                <a:ea typeface="맑은 고딕" pitchFamily="16"/>
                <a:cs typeface="Lucida Sans" pitchFamily="16"/>
              </a:rPr>
              <a:t>smoked)</a:t>
            </a:r>
          </a:p>
        </p:txBody>
      </p:sp>
    </p:spTree>
    <p:extLst>
      <p:ext uri="{BB962C8B-B14F-4D97-AF65-F5344CB8AC3E}">
        <p14:creationId xmlns:p14="http://schemas.microsoft.com/office/powerpoint/2010/main" val="1061309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1609203"/>
              </p:ext>
            </p:extLst>
          </p:nvPr>
        </p:nvGraphicFramePr>
        <p:xfrm>
          <a:off x="150775" y="1605109"/>
          <a:ext cx="3739581" cy="3885120"/>
        </p:xfrm>
        <a:graphic>
          <a:graphicData uri="http://schemas.openxmlformats.org/drawingml/2006/table">
            <a:tbl>
              <a:tblPr firstRow="1" bandRow="1"/>
              <a:tblGrid>
                <a:gridCol w="1249306">
                  <a:extLst>
                    <a:ext uri="{9D8B030D-6E8A-4147-A177-3AD203B41FA5}">
                      <a16:colId xmlns:a16="http://schemas.microsoft.com/office/drawing/2014/main" val="2274210925"/>
                    </a:ext>
                  </a:extLst>
                </a:gridCol>
                <a:gridCol w="1241158">
                  <a:extLst>
                    <a:ext uri="{9D8B030D-6E8A-4147-A177-3AD203B41FA5}">
                      <a16:colId xmlns:a16="http://schemas.microsoft.com/office/drawing/2014/main" val="711655124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3403477125"/>
                    </a:ext>
                  </a:extLst>
                </a:gridCol>
              </a:tblGrid>
              <a:tr h="1507680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buNone/>
                      </a:pPr>
                      <a:r>
                        <a:rPr lang="en-US" dirty="0">
                          <a:solidFill>
                            <a:srgbClr val="000000"/>
                          </a:solidFill>
                          <a:latin typeface="Lucida Sans"/>
                          <a:ea typeface="맑은 고딕" pitchFamily="16"/>
                          <a:cs typeface="Lucida Sans" pitchFamily="16"/>
                        </a:rPr>
                        <a:t>1. Aged 50-80, &gt;= 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  <a:latin typeface="Lucida Sans"/>
                          <a:ea typeface="맑은 고딕" pitchFamily="16"/>
                          <a:cs typeface="Lucida Sans" pitchFamily="16"/>
                        </a:rPr>
                        <a:t>20PY smoking history</a:t>
                      </a:r>
                      <a:endParaRPr lang="en-US" dirty="0">
                        <a:solidFill>
                          <a:srgbClr val="000000"/>
                        </a:solidFill>
                        <a:latin typeface="Lucida Sans"/>
                        <a:ea typeface="맑은 고딕" pitchFamily="16"/>
                        <a:cs typeface="Lucida Sans" pitchFamily="16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buNone/>
                      </a:pPr>
                      <a:r>
                        <a:rPr lang="en-US" dirty="0">
                          <a:solidFill>
                            <a:srgbClr val="000000"/>
                          </a:solidFill>
                          <a:latin typeface="Lucida Sans"/>
                          <a:ea typeface="맑은 고딕" pitchFamily="16"/>
                          <a:cs typeface="Lucida Sans" pitchFamily="16"/>
                        </a:rPr>
                        <a:t>Aged 50-80, &lt; 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  <a:latin typeface="Lucida Sans"/>
                          <a:ea typeface="맑은 고딕" pitchFamily="16"/>
                          <a:cs typeface="Lucida Sans" pitchFamily="16"/>
                        </a:rPr>
                        <a:t>20PY smoking history</a:t>
                      </a:r>
                      <a:endParaRPr lang="en-US" dirty="0">
                        <a:solidFill>
                          <a:srgbClr val="000000"/>
                        </a:solidFill>
                        <a:latin typeface="Lucida Sans"/>
                        <a:ea typeface="맑은 고딕" pitchFamily="16"/>
                        <a:cs typeface="Lucida Sans" pitchFamily="16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3043527"/>
                  </a:ext>
                </a:extLst>
              </a:tr>
              <a:tr h="471240">
                <a:tc>
                  <a:txBody>
                    <a:bodyPr/>
                    <a:lstStyle/>
                    <a:p>
                      <a:pPr marL="0" marR="0" lvl="0" indent="0" algn="l">
                        <a:buNone/>
                      </a:pPr>
                      <a:r>
                        <a:rPr lang="en-US" dirty="0">
                          <a:solidFill>
                            <a:srgbClr val="000000"/>
                          </a:solidFill>
                          <a:latin typeface="Lucida Sans"/>
                          <a:ea typeface="맑은 고딕" pitchFamily="16"/>
                          <a:cs typeface="Lucida Sans" pitchFamily="16"/>
                        </a:rPr>
                        <a:t>Aged 50-80, &lt; 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  <a:latin typeface="Lucida Sans"/>
                          <a:ea typeface="맑은 고딕" pitchFamily="16"/>
                          <a:cs typeface="Lucida Sans" pitchFamily="16"/>
                        </a:rPr>
                        <a:t>20PY smoking history</a:t>
                      </a:r>
                      <a:endParaRPr lang="en-US" dirty="0">
                        <a:solidFill>
                          <a:srgbClr val="000000"/>
                        </a:solidFill>
                        <a:latin typeface="Lucida Sans"/>
                        <a:ea typeface="맑은 고딕" pitchFamily="16"/>
                        <a:cs typeface="Lucida Sans" pitchFamily="16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altLang="ko-KR" dirty="0">
                          <a:solidFill>
                            <a:srgbClr val="000000"/>
                          </a:solidFill>
                          <a:latin typeface="맑은 고딕"/>
                          <a:ea typeface="맑은 고딕" pitchFamily="16"/>
                        </a:rPr>
                        <a:t>&lt;0.001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altLang="ko-KR">
                          <a:solidFill>
                            <a:srgbClr val="000000"/>
                          </a:solidFill>
                          <a:latin typeface="맑은 고딕"/>
                          <a:ea typeface="맑은 고딕" pitchFamily="16"/>
                        </a:rP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0779073"/>
                  </a:ext>
                </a:extLst>
              </a:tr>
              <a:tr h="471240">
                <a:tc>
                  <a:txBody>
                    <a:bodyPr/>
                    <a:lstStyle/>
                    <a:p>
                      <a:pPr marL="0" marR="0" lvl="0" indent="0" algn="l">
                        <a:buNone/>
                      </a:pPr>
                      <a:r>
                        <a:rPr lang="en-US" dirty="0">
                          <a:solidFill>
                            <a:srgbClr val="000000"/>
                          </a:solidFill>
                          <a:latin typeface="Lucida Sans"/>
                          <a:ea typeface="맑은 고딕" pitchFamily="16"/>
                          <a:cs typeface="Lucida Sans" pitchFamily="16"/>
                        </a:rPr>
                        <a:t>Aged 50-80, 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  <a:latin typeface="Lucida Sans"/>
                          <a:ea typeface="맑은 고딕" pitchFamily="16"/>
                          <a:cs typeface="Lucida Sans" pitchFamily="16"/>
                        </a:rPr>
                        <a:t>never </a:t>
                      </a:r>
                      <a:r>
                        <a:rPr lang="en-US" dirty="0">
                          <a:solidFill>
                            <a:srgbClr val="000000"/>
                          </a:solidFill>
                          <a:latin typeface="Lucida Sans"/>
                          <a:ea typeface="맑은 고딕" pitchFamily="16"/>
                          <a:cs typeface="Lucida Sans" pitchFamily="16"/>
                        </a:rPr>
                        <a:t>smoked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altLang="ko-KR" dirty="0">
                          <a:solidFill>
                            <a:srgbClr val="000000"/>
                          </a:solidFill>
                          <a:latin typeface="맑은 고딕"/>
                          <a:ea typeface="맑은 고딕" pitchFamily="16"/>
                        </a:rPr>
                        <a:t>&lt;0.001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altLang="ko-KR" dirty="0">
                          <a:solidFill>
                            <a:srgbClr val="000000"/>
                          </a:solidFill>
                          <a:latin typeface="맑은 고딕"/>
                          <a:ea typeface="맑은 고딕" pitchFamily="16"/>
                        </a:rPr>
                        <a:t>&lt;0.001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6394717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4451685" y="1309804"/>
            <a:ext cx="7525250" cy="41804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684952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3280" y="106920"/>
            <a:ext cx="11602604" cy="3160079"/>
          </a:xfrm>
          <a:prstGeom prst="rect">
            <a:avLst/>
          </a:prstGeom>
          <a:noFill/>
          <a:ln>
            <a:noFill/>
          </a:ln>
        </p:spPr>
        <p:txBody>
          <a:bodyPr wrap="square" lIns="90000" tIns="45000" rIns="90000" bIns="45000">
            <a:noAutofit/>
          </a:bodyPr>
          <a:lstStyle/>
          <a:p>
            <a:pPr marL="0" marR="0" lvl="0" indent="0" algn="l">
              <a:buNone/>
            </a:pPr>
            <a:r>
              <a:rPr lang="en-US" sz="3200" dirty="0">
                <a:solidFill>
                  <a:srgbClr val="000000"/>
                </a:solidFill>
                <a:latin typeface="+mj-lt"/>
                <a:ea typeface="맑은 고딕" pitchFamily="16"/>
                <a:cs typeface="Lucida Sans" pitchFamily="16"/>
              </a:rPr>
              <a:t>Lung cancer mortality(1. Aged 50-80, &gt;= </a:t>
            </a:r>
            <a:r>
              <a:rPr lang="en-US" sz="3200" dirty="0" smtClean="0">
                <a:solidFill>
                  <a:srgbClr val="000000"/>
                </a:solidFill>
                <a:latin typeface="+mj-lt"/>
                <a:ea typeface="맑은 고딕" pitchFamily="16"/>
                <a:cs typeface="Lucida Sans" pitchFamily="16"/>
              </a:rPr>
              <a:t>20PY </a:t>
            </a:r>
            <a:r>
              <a:rPr lang="en-US" sz="3200" dirty="0">
                <a:solidFill>
                  <a:srgbClr val="000000"/>
                </a:solidFill>
                <a:latin typeface="+mj-lt"/>
                <a:ea typeface="맑은 고딕" pitchFamily="16"/>
                <a:cs typeface="Lucida Sans" pitchFamily="16"/>
              </a:rPr>
              <a:t>smoking </a:t>
            </a:r>
            <a:r>
              <a:rPr lang="en-US" sz="3200" dirty="0" smtClean="0">
                <a:solidFill>
                  <a:srgbClr val="000000"/>
                </a:solidFill>
                <a:latin typeface="+mj-lt"/>
                <a:ea typeface="맑은 고딕" pitchFamily="16"/>
                <a:cs typeface="Lucida Sans" pitchFamily="16"/>
              </a:rPr>
              <a:t>history 2</a:t>
            </a:r>
            <a:r>
              <a:rPr lang="en-US" sz="3200" dirty="0">
                <a:solidFill>
                  <a:srgbClr val="000000"/>
                </a:solidFill>
                <a:latin typeface="+mj-lt"/>
                <a:ea typeface="맑은 고딕" pitchFamily="16"/>
                <a:cs typeface="Lucida Sans" pitchFamily="16"/>
              </a:rPr>
              <a:t>. Aged 50-80, &lt; </a:t>
            </a:r>
            <a:r>
              <a:rPr lang="en-US" sz="3200" dirty="0" smtClean="0">
                <a:solidFill>
                  <a:srgbClr val="000000"/>
                </a:solidFill>
                <a:latin typeface="+mj-lt"/>
                <a:ea typeface="맑은 고딕" pitchFamily="16"/>
                <a:cs typeface="Lucida Sans" pitchFamily="16"/>
              </a:rPr>
              <a:t>20PY smoking history </a:t>
            </a:r>
            <a:r>
              <a:rPr lang="en-US" sz="3200" dirty="0">
                <a:solidFill>
                  <a:srgbClr val="000000"/>
                </a:solidFill>
                <a:latin typeface="+mj-lt"/>
                <a:ea typeface="맑은 고딕" pitchFamily="16"/>
                <a:cs typeface="Lucida Sans" pitchFamily="16"/>
              </a:rPr>
              <a:t>3. Aged 50-80, </a:t>
            </a:r>
            <a:r>
              <a:rPr lang="en-US" sz="3200" dirty="0" smtClean="0">
                <a:solidFill>
                  <a:srgbClr val="000000"/>
                </a:solidFill>
                <a:latin typeface="+mj-lt"/>
                <a:ea typeface="맑은 고딕" pitchFamily="16"/>
                <a:cs typeface="Lucida Sans" pitchFamily="16"/>
              </a:rPr>
              <a:t>never </a:t>
            </a:r>
            <a:r>
              <a:rPr lang="en-US" sz="3200" dirty="0">
                <a:solidFill>
                  <a:srgbClr val="000000"/>
                </a:solidFill>
                <a:latin typeface="+mj-lt"/>
                <a:ea typeface="맑은 고딕" pitchFamily="16"/>
                <a:cs typeface="Lucida Sans" pitchFamily="16"/>
              </a:rPr>
              <a:t>smoked)</a:t>
            </a:r>
          </a:p>
        </p:txBody>
      </p:sp>
    </p:spTree>
    <p:extLst>
      <p:ext uri="{BB962C8B-B14F-4D97-AF65-F5344CB8AC3E}">
        <p14:creationId xmlns:p14="http://schemas.microsoft.com/office/powerpoint/2010/main" val="1839874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4346496"/>
              </p:ext>
            </p:extLst>
          </p:nvPr>
        </p:nvGraphicFramePr>
        <p:xfrm>
          <a:off x="317029" y="1571858"/>
          <a:ext cx="3523451" cy="4159440"/>
        </p:xfrm>
        <a:graphic>
          <a:graphicData uri="http://schemas.openxmlformats.org/drawingml/2006/table">
            <a:tbl>
              <a:tblPr firstRow="1" bandRow="1"/>
              <a:tblGrid>
                <a:gridCol w="1177102">
                  <a:extLst>
                    <a:ext uri="{9D8B030D-6E8A-4147-A177-3AD203B41FA5}">
                      <a16:colId xmlns:a16="http://schemas.microsoft.com/office/drawing/2014/main" val="1716146695"/>
                    </a:ext>
                  </a:extLst>
                </a:gridCol>
                <a:gridCol w="1169425">
                  <a:extLst>
                    <a:ext uri="{9D8B030D-6E8A-4147-A177-3AD203B41FA5}">
                      <a16:colId xmlns:a16="http://schemas.microsoft.com/office/drawing/2014/main" val="2437534938"/>
                    </a:ext>
                  </a:extLst>
                </a:gridCol>
                <a:gridCol w="1176924">
                  <a:extLst>
                    <a:ext uri="{9D8B030D-6E8A-4147-A177-3AD203B41FA5}">
                      <a16:colId xmlns:a16="http://schemas.microsoft.com/office/drawing/2014/main" val="1134992186"/>
                    </a:ext>
                  </a:extLst>
                </a:gridCol>
              </a:tblGrid>
              <a:tr h="1507680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buNone/>
                      </a:pPr>
                      <a:r>
                        <a:rPr lang="en-US" dirty="0">
                          <a:solidFill>
                            <a:srgbClr val="000000"/>
                          </a:solidFill>
                          <a:latin typeface="Lucida Sans"/>
                          <a:ea typeface="맑은 고딕" pitchFamily="16"/>
                          <a:cs typeface="Lucida Sans" pitchFamily="16"/>
                        </a:rPr>
                        <a:t>1. Aged 50-80, &gt;= 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  <a:latin typeface="Lucida Sans"/>
                          <a:ea typeface="맑은 고딕" pitchFamily="16"/>
                          <a:cs typeface="Lucida Sans" pitchFamily="16"/>
                        </a:rPr>
                        <a:t>20PY smoking history</a:t>
                      </a:r>
                      <a:endParaRPr lang="en-US" dirty="0">
                        <a:solidFill>
                          <a:srgbClr val="000000"/>
                        </a:solidFill>
                        <a:latin typeface="Lucida Sans"/>
                        <a:ea typeface="맑은 고딕" pitchFamily="16"/>
                        <a:cs typeface="Lucida Sans" pitchFamily="16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buNone/>
                      </a:pPr>
                      <a:r>
                        <a:rPr lang="en-US" dirty="0">
                          <a:solidFill>
                            <a:srgbClr val="000000"/>
                          </a:solidFill>
                          <a:latin typeface="Lucida Sans"/>
                          <a:ea typeface="맑은 고딕" pitchFamily="16"/>
                          <a:cs typeface="Lucida Sans" pitchFamily="16"/>
                        </a:rPr>
                        <a:t>Aged 50-80, &lt; 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  <a:latin typeface="Lucida Sans"/>
                          <a:ea typeface="맑은 고딕" pitchFamily="16"/>
                          <a:cs typeface="Lucida Sans" pitchFamily="16"/>
                        </a:rPr>
                        <a:t>20PY smoking history</a:t>
                      </a:r>
                      <a:endParaRPr lang="en-US" dirty="0">
                        <a:solidFill>
                          <a:srgbClr val="000000"/>
                        </a:solidFill>
                        <a:latin typeface="Lucida Sans"/>
                        <a:ea typeface="맑은 고딕" pitchFamily="16"/>
                        <a:cs typeface="Lucida Sans" pitchFamily="16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388400"/>
                  </a:ext>
                </a:extLst>
              </a:tr>
              <a:tr h="471240">
                <a:tc>
                  <a:txBody>
                    <a:bodyPr/>
                    <a:lstStyle/>
                    <a:p>
                      <a:pPr marL="0" marR="0" lvl="0" indent="0" algn="l">
                        <a:buNone/>
                      </a:pPr>
                      <a:r>
                        <a:rPr lang="en-US" dirty="0">
                          <a:solidFill>
                            <a:srgbClr val="000000"/>
                          </a:solidFill>
                          <a:latin typeface="Lucida Sans"/>
                          <a:ea typeface="맑은 고딕" pitchFamily="16"/>
                          <a:cs typeface="Lucida Sans" pitchFamily="16"/>
                        </a:rPr>
                        <a:t>Aged 50-80, &lt; 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  <a:latin typeface="Lucida Sans"/>
                          <a:ea typeface="맑은 고딕" pitchFamily="16"/>
                          <a:cs typeface="Lucida Sans" pitchFamily="16"/>
                        </a:rPr>
                        <a:t>20PY smoking history</a:t>
                      </a:r>
                      <a:endParaRPr lang="en-US" dirty="0">
                        <a:solidFill>
                          <a:srgbClr val="000000"/>
                        </a:solidFill>
                        <a:latin typeface="Lucida Sans"/>
                        <a:ea typeface="맑은 고딕" pitchFamily="16"/>
                        <a:cs typeface="Lucida Sans" pitchFamily="16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altLang="ko-KR">
                          <a:solidFill>
                            <a:srgbClr val="000000"/>
                          </a:solidFill>
                          <a:latin typeface="맑은 고딕"/>
                          <a:ea typeface="맑은 고딕" pitchFamily="16"/>
                        </a:rPr>
                        <a:t>&lt;0.001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altLang="ko-KR">
                          <a:solidFill>
                            <a:srgbClr val="000000"/>
                          </a:solidFill>
                          <a:latin typeface="맑은 고딕"/>
                          <a:ea typeface="맑은 고딕" pitchFamily="16"/>
                        </a:rP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2567854"/>
                  </a:ext>
                </a:extLst>
              </a:tr>
              <a:tr h="471240">
                <a:tc>
                  <a:txBody>
                    <a:bodyPr/>
                    <a:lstStyle/>
                    <a:p>
                      <a:pPr marL="0" marR="0" lvl="0" indent="0" algn="l">
                        <a:buNone/>
                      </a:pPr>
                      <a:r>
                        <a:rPr lang="en-US" dirty="0">
                          <a:solidFill>
                            <a:srgbClr val="000000"/>
                          </a:solidFill>
                          <a:latin typeface="Lucida Sans"/>
                          <a:ea typeface="맑은 고딕" pitchFamily="16"/>
                          <a:cs typeface="Lucida Sans" pitchFamily="16"/>
                        </a:rPr>
                        <a:t>Aged 50-80, 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  <a:latin typeface="Lucida Sans"/>
                          <a:ea typeface="맑은 고딕" pitchFamily="16"/>
                          <a:cs typeface="Lucida Sans" pitchFamily="16"/>
                        </a:rPr>
                        <a:t>never smoked</a:t>
                      </a:r>
                      <a:endParaRPr lang="en-US" dirty="0">
                        <a:solidFill>
                          <a:srgbClr val="000000"/>
                        </a:solidFill>
                        <a:latin typeface="Lucida Sans"/>
                        <a:ea typeface="맑은 고딕" pitchFamily="16"/>
                        <a:cs typeface="Lucida Sans" pitchFamily="16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altLang="ko-KR">
                          <a:solidFill>
                            <a:srgbClr val="000000"/>
                          </a:solidFill>
                          <a:latin typeface="맑은 고딕"/>
                          <a:ea typeface="맑은 고딕" pitchFamily="16"/>
                        </a:rPr>
                        <a:t>&lt;0.001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altLang="ko-KR" dirty="0">
                          <a:solidFill>
                            <a:srgbClr val="000000"/>
                          </a:solidFill>
                          <a:latin typeface="맑은 고딕"/>
                          <a:ea typeface="맑은 고딕" pitchFamily="16"/>
                        </a:rPr>
                        <a:t>&lt;0.001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7218157"/>
                  </a:ext>
                </a:extLst>
              </a:tr>
            </a:tbl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3953813" y="1744579"/>
            <a:ext cx="7614047" cy="422975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04840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43280" y="106920"/>
            <a:ext cx="9289080" cy="3160079"/>
          </a:xfrm>
          <a:prstGeom prst="rect">
            <a:avLst/>
          </a:prstGeom>
          <a:noFill/>
          <a:ln>
            <a:noFill/>
          </a:ln>
        </p:spPr>
        <p:txBody>
          <a:bodyPr wrap="square" lIns="90000" tIns="45000" rIns="90000" bIns="45000">
            <a:noAutofit/>
          </a:bodyPr>
          <a:lstStyle/>
          <a:p>
            <a:pPr marL="0" marR="0" lvl="0" indent="0" algn="l">
              <a:buNone/>
            </a:pPr>
            <a:r>
              <a:rPr lang="en-US" sz="3200" dirty="0">
                <a:solidFill>
                  <a:srgbClr val="000000"/>
                </a:solidFill>
                <a:latin typeface="+mj-lt"/>
                <a:ea typeface="맑은 고딕" pitchFamily="16"/>
                <a:cs typeface="Lucida Sans" pitchFamily="16"/>
              </a:rPr>
              <a:t>All mortality(1. Aged 50-80, &gt;= 20years </a:t>
            </a:r>
            <a:r>
              <a:rPr lang="en-US" sz="3200" dirty="0" smtClean="0">
                <a:solidFill>
                  <a:srgbClr val="000000"/>
                </a:solidFill>
                <a:latin typeface="+mj-lt"/>
                <a:ea typeface="맑은 고딕" pitchFamily="16"/>
                <a:cs typeface="Lucida Sans" pitchFamily="16"/>
              </a:rPr>
              <a:t>smoking history </a:t>
            </a:r>
            <a:r>
              <a:rPr lang="en-US" sz="3200" dirty="0">
                <a:solidFill>
                  <a:srgbClr val="000000"/>
                </a:solidFill>
                <a:latin typeface="+mj-lt"/>
                <a:ea typeface="맑은 고딕" pitchFamily="16"/>
                <a:cs typeface="Lucida Sans" pitchFamily="16"/>
              </a:rPr>
              <a:t>2. Aged 50-80, &lt; 20years smoking </a:t>
            </a:r>
            <a:r>
              <a:rPr lang="en-US" sz="3200" dirty="0" smtClean="0">
                <a:solidFill>
                  <a:srgbClr val="000000"/>
                </a:solidFill>
                <a:latin typeface="+mj-lt"/>
                <a:ea typeface="맑은 고딕" pitchFamily="16"/>
                <a:cs typeface="Lucida Sans" pitchFamily="16"/>
              </a:rPr>
              <a:t>history)</a:t>
            </a:r>
            <a:endParaRPr lang="en-US" sz="3200" dirty="0">
              <a:solidFill>
                <a:srgbClr val="000000"/>
              </a:solidFill>
              <a:latin typeface="+mj-lt"/>
              <a:ea typeface="맑은 고딕" pitchFamily="16"/>
              <a:cs typeface="Lucida Sans" pitchFamily="16"/>
            </a:endParaRPr>
          </a:p>
        </p:txBody>
      </p:sp>
    </p:spTree>
    <p:extLst>
      <p:ext uri="{BB962C8B-B14F-4D97-AF65-F5344CB8AC3E}">
        <p14:creationId xmlns:p14="http://schemas.microsoft.com/office/powerpoint/2010/main" val="1705379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9508312"/>
              </p:ext>
            </p:extLst>
          </p:nvPr>
        </p:nvGraphicFramePr>
        <p:xfrm>
          <a:off x="370246" y="2501149"/>
          <a:ext cx="2914822" cy="2377440"/>
        </p:xfrm>
        <a:graphic>
          <a:graphicData uri="http://schemas.openxmlformats.org/drawingml/2006/table">
            <a:tbl>
              <a:tblPr firstRow="1" bandRow="1"/>
              <a:tblGrid>
                <a:gridCol w="1462223">
                  <a:extLst>
                    <a:ext uri="{9D8B030D-6E8A-4147-A177-3AD203B41FA5}">
                      <a16:colId xmlns:a16="http://schemas.microsoft.com/office/drawing/2014/main" val="1747764797"/>
                    </a:ext>
                  </a:extLst>
                </a:gridCol>
                <a:gridCol w="1452599">
                  <a:extLst>
                    <a:ext uri="{9D8B030D-6E8A-4147-A177-3AD203B41FA5}">
                      <a16:colId xmlns:a16="http://schemas.microsoft.com/office/drawing/2014/main" val="3265918604"/>
                    </a:ext>
                  </a:extLst>
                </a:gridCol>
              </a:tblGrid>
              <a:tr h="1181880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buNone/>
                      </a:pPr>
                      <a:r>
                        <a:rPr lang="en-US" dirty="0">
                          <a:solidFill>
                            <a:srgbClr val="000000"/>
                          </a:solidFill>
                          <a:latin typeface="Lucida Sans"/>
                          <a:ea typeface="맑은 고딕" pitchFamily="16"/>
                          <a:cs typeface="Lucida Sans" pitchFamily="16"/>
                        </a:rPr>
                        <a:t>1. Aged 50-80, &gt;= 20years 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  <a:latin typeface="Lucida Sans"/>
                          <a:ea typeface="맑은 고딕" pitchFamily="16"/>
                          <a:cs typeface="Lucida Sans" pitchFamily="16"/>
                        </a:rPr>
                        <a:t>smoking history</a:t>
                      </a:r>
                      <a:endParaRPr lang="en-US" dirty="0">
                        <a:solidFill>
                          <a:srgbClr val="000000"/>
                        </a:solidFill>
                        <a:latin typeface="Lucida Sans"/>
                        <a:ea typeface="맑은 고딕" pitchFamily="16"/>
                        <a:cs typeface="Lucida Sans" pitchFamily="16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1248901"/>
                  </a:ext>
                </a:extLst>
              </a:tr>
              <a:tr h="1107720">
                <a:tc>
                  <a:txBody>
                    <a:bodyPr/>
                    <a:lstStyle/>
                    <a:p>
                      <a:pPr marL="0" marR="0" lvl="0" indent="0" algn="l">
                        <a:buNone/>
                      </a:pPr>
                      <a:r>
                        <a:rPr lang="en-US" dirty="0">
                          <a:solidFill>
                            <a:srgbClr val="000000"/>
                          </a:solidFill>
                          <a:latin typeface="Lucida Sans"/>
                          <a:ea typeface="맑은 고딕" pitchFamily="16"/>
                          <a:cs typeface="Lucida Sans" pitchFamily="16"/>
                        </a:rPr>
                        <a:t>Aged 50-80, &lt; 20years 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  <a:latin typeface="Lucida Sans"/>
                          <a:ea typeface="맑은 고딕" pitchFamily="16"/>
                          <a:cs typeface="Lucida Sans" pitchFamily="16"/>
                        </a:rPr>
                        <a:t>smoking history</a:t>
                      </a:r>
                      <a:endParaRPr lang="en-US" dirty="0">
                        <a:solidFill>
                          <a:srgbClr val="000000"/>
                        </a:solidFill>
                        <a:latin typeface="Lucida Sans"/>
                        <a:ea typeface="맑은 고딕" pitchFamily="16"/>
                        <a:cs typeface="Lucida Sans" pitchFamily="16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altLang="ko-KR" dirty="0">
                          <a:solidFill>
                            <a:srgbClr val="000000"/>
                          </a:solidFill>
                          <a:latin typeface="맑은 고딕"/>
                          <a:ea typeface="맑은 고딕" pitchFamily="16"/>
                        </a:rPr>
                        <a:t>&lt;0.001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5967035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3523068" y="1588168"/>
            <a:ext cx="7852288" cy="436210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47730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3280" y="106920"/>
            <a:ext cx="8353080" cy="3160079"/>
          </a:xfrm>
          <a:prstGeom prst="rect">
            <a:avLst/>
          </a:prstGeom>
          <a:noFill/>
          <a:ln>
            <a:noFill/>
          </a:ln>
        </p:spPr>
        <p:txBody>
          <a:bodyPr wrap="square" lIns="90000" tIns="45000" rIns="90000" bIns="45000">
            <a:noAutofit/>
          </a:bodyPr>
          <a:lstStyle/>
          <a:p>
            <a:pPr marL="0" marR="0" lvl="0" indent="0" algn="l">
              <a:buNone/>
            </a:pPr>
            <a:r>
              <a:rPr lang="en-US" sz="3200" dirty="0">
                <a:solidFill>
                  <a:srgbClr val="000000"/>
                </a:solidFill>
                <a:latin typeface="+mj-lt"/>
                <a:ea typeface="맑은 고딕" pitchFamily="16"/>
                <a:cs typeface="Lucida Sans" pitchFamily="16"/>
              </a:rPr>
              <a:t>Lung cancer mortality(1. Aged 50-80, &gt;= 20years </a:t>
            </a:r>
            <a:r>
              <a:rPr lang="en-US" sz="3200" dirty="0" smtClean="0">
                <a:solidFill>
                  <a:srgbClr val="000000"/>
                </a:solidFill>
                <a:latin typeface="+mj-lt"/>
                <a:ea typeface="맑은 고딕" pitchFamily="16"/>
                <a:cs typeface="Lucida Sans" pitchFamily="16"/>
              </a:rPr>
              <a:t>smoking history </a:t>
            </a:r>
            <a:r>
              <a:rPr lang="en-US" sz="3200" dirty="0">
                <a:solidFill>
                  <a:srgbClr val="000000"/>
                </a:solidFill>
                <a:latin typeface="+mj-lt"/>
                <a:ea typeface="맑은 고딕" pitchFamily="16"/>
                <a:cs typeface="Lucida Sans" pitchFamily="16"/>
              </a:rPr>
              <a:t>2. Aged 50-80, &lt; 20years </a:t>
            </a:r>
            <a:r>
              <a:rPr lang="en-US" sz="3200" dirty="0" smtClean="0">
                <a:solidFill>
                  <a:srgbClr val="000000"/>
                </a:solidFill>
                <a:latin typeface="+mj-lt"/>
                <a:ea typeface="맑은 고딕" pitchFamily="16"/>
                <a:cs typeface="Lucida Sans" pitchFamily="16"/>
              </a:rPr>
              <a:t>smoking history)</a:t>
            </a:r>
            <a:endParaRPr lang="en-US" sz="3200" dirty="0">
              <a:solidFill>
                <a:srgbClr val="000000"/>
              </a:solidFill>
              <a:latin typeface="+mj-lt"/>
              <a:ea typeface="맑은 고딕" pitchFamily="16"/>
              <a:cs typeface="Lucida Sans" pitchFamily="16"/>
            </a:endParaRPr>
          </a:p>
        </p:txBody>
      </p:sp>
    </p:spTree>
    <p:extLst>
      <p:ext uri="{BB962C8B-B14F-4D97-AF65-F5344CB8AC3E}">
        <p14:creationId xmlns:p14="http://schemas.microsoft.com/office/powerpoint/2010/main" val="2375337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2602984"/>
              </p:ext>
            </p:extLst>
          </p:nvPr>
        </p:nvGraphicFramePr>
        <p:xfrm>
          <a:off x="287640" y="2393083"/>
          <a:ext cx="3569466" cy="2296440"/>
        </p:xfrm>
        <a:graphic>
          <a:graphicData uri="http://schemas.openxmlformats.org/drawingml/2006/table">
            <a:tbl>
              <a:tblPr firstRow="1" bandRow="1"/>
              <a:tblGrid>
                <a:gridCol w="1790625">
                  <a:extLst>
                    <a:ext uri="{9D8B030D-6E8A-4147-A177-3AD203B41FA5}">
                      <a16:colId xmlns:a16="http://schemas.microsoft.com/office/drawing/2014/main" val="3206827297"/>
                    </a:ext>
                  </a:extLst>
                </a:gridCol>
                <a:gridCol w="1778841">
                  <a:extLst>
                    <a:ext uri="{9D8B030D-6E8A-4147-A177-3AD203B41FA5}">
                      <a16:colId xmlns:a16="http://schemas.microsoft.com/office/drawing/2014/main" val="2166991033"/>
                    </a:ext>
                  </a:extLst>
                </a:gridCol>
              </a:tblGrid>
              <a:tr h="1181880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buNone/>
                      </a:pPr>
                      <a:r>
                        <a:rPr lang="en-US" dirty="0">
                          <a:solidFill>
                            <a:srgbClr val="000000"/>
                          </a:solidFill>
                          <a:latin typeface="Lucida Sans"/>
                          <a:ea typeface="맑은 고딕" pitchFamily="16"/>
                          <a:cs typeface="Lucida Sans" pitchFamily="16"/>
                        </a:rPr>
                        <a:t>1. Aged 50-80, &gt;= 20years 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  <a:latin typeface="Lucida Sans"/>
                          <a:ea typeface="맑은 고딕" pitchFamily="16"/>
                          <a:cs typeface="Lucida Sans" pitchFamily="16"/>
                        </a:rPr>
                        <a:t>smoking history</a:t>
                      </a:r>
                      <a:endParaRPr lang="en-US" dirty="0">
                        <a:solidFill>
                          <a:srgbClr val="000000"/>
                        </a:solidFill>
                        <a:latin typeface="Lucida Sans"/>
                        <a:ea typeface="맑은 고딕" pitchFamily="16"/>
                        <a:cs typeface="Lucida Sans" pitchFamily="16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849891"/>
                  </a:ext>
                </a:extLst>
              </a:tr>
              <a:tr h="1107720">
                <a:tc>
                  <a:txBody>
                    <a:bodyPr/>
                    <a:lstStyle/>
                    <a:p>
                      <a:pPr marL="0" marR="0" lvl="0" indent="0" algn="l">
                        <a:buNone/>
                      </a:pPr>
                      <a:r>
                        <a:rPr lang="en-US" dirty="0">
                          <a:solidFill>
                            <a:srgbClr val="000000"/>
                          </a:solidFill>
                          <a:latin typeface="Lucida Sans"/>
                          <a:ea typeface="맑은 고딕" pitchFamily="16"/>
                          <a:cs typeface="Lucida Sans" pitchFamily="16"/>
                        </a:rPr>
                        <a:t>Aged 50-80, &lt; 20years 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  <a:latin typeface="Lucida Sans"/>
                          <a:ea typeface="맑은 고딕" pitchFamily="16"/>
                          <a:cs typeface="Lucida Sans" pitchFamily="16"/>
                        </a:rPr>
                        <a:t>smoking history</a:t>
                      </a:r>
                      <a:endParaRPr lang="en-US" dirty="0">
                        <a:solidFill>
                          <a:srgbClr val="000000"/>
                        </a:solidFill>
                        <a:latin typeface="Lucida Sans"/>
                        <a:ea typeface="맑은 고딕" pitchFamily="16"/>
                        <a:cs typeface="Lucida Sans" pitchFamily="16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altLang="ko-KR" dirty="0">
                          <a:solidFill>
                            <a:srgbClr val="000000"/>
                          </a:solidFill>
                          <a:latin typeface="맑은 고딕"/>
                          <a:ea typeface="맑은 고딕" pitchFamily="16"/>
                        </a:rPr>
                        <a:t>&lt;0.001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8492991"/>
                  </a:ext>
                </a:extLst>
              </a:tr>
            </a:tbl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3977876" y="1672389"/>
            <a:ext cx="7614047" cy="422975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602809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80000" y="180000"/>
            <a:ext cx="7560000" cy="2219731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200" b="0" i="0" u="none" strike="noStrike" kern="1200" cap="none" dirty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All cause </a:t>
            </a:r>
            <a:r>
              <a:rPr lang="en-US" sz="32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mortality(1.aged</a:t>
            </a:r>
            <a:r>
              <a:rPr lang="en-US" sz="3200" b="0" i="0" u="none" strike="noStrike" kern="1200" cap="none" dirty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, 50-80, &gt;=</a:t>
            </a:r>
            <a:r>
              <a:rPr lang="en-US" sz="32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20PY smoking history, 2.aged</a:t>
            </a:r>
            <a:r>
              <a:rPr lang="en-US" sz="3200" b="0" i="0" u="none" strike="noStrike" kern="1200" cap="none" dirty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, 40-49, &gt;=</a:t>
            </a:r>
            <a:r>
              <a:rPr lang="en-US" sz="32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20PY smoking history,</a:t>
            </a:r>
            <a:endParaRPr lang="en-US" sz="3200" b="0" i="0" u="none" strike="noStrike" kern="1200" cap="none" dirty="0">
              <a:ln>
                <a:noFill/>
              </a:ln>
              <a:latin typeface="맑은 고딕" pitchFamily="18"/>
              <a:ea typeface="맑은 고딕" pitchFamily="2"/>
              <a:cs typeface="Lucida Sans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16294560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7232701"/>
              </p:ext>
            </p:extLst>
          </p:nvPr>
        </p:nvGraphicFramePr>
        <p:xfrm>
          <a:off x="627939" y="2334894"/>
          <a:ext cx="3353858" cy="2377440"/>
        </p:xfrm>
        <a:graphic>
          <a:graphicData uri="http://schemas.openxmlformats.org/drawingml/2006/table">
            <a:tbl>
              <a:tblPr firstRow="1" bandRow="1"/>
              <a:tblGrid>
                <a:gridCol w="1682465">
                  <a:extLst>
                    <a:ext uri="{9D8B030D-6E8A-4147-A177-3AD203B41FA5}">
                      <a16:colId xmlns:a16="http://schemas.microsoft.com/office/drawing/2014/main" val="3206827297"/>
                    </a:ext>
                  </a:extLst>
                </a:gridCol>
                <a:gridCol w="1671393">
                  <a:extLst>
                    <a:ext uri="{9D8B030D-6E8A-4147-A177-3AD203B41FA5}">
                      <a16:colId xmlns:a16="http://schemas.microsoft.com/office/drawing/2014/main" val="2166991033"/>
                    </a:ext>
                  </a:extLst>
                </a:gridCol>
              </a:tblGrid>
              <a:tr h="1181880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buNone/>
                      </a:pPr>
                      <a:r>
                        <a:rPr lang="en-US" altLang="ko-KR" sz="1800" b="0" i="0" u="none" strike="noStrike" kern="1200" cap="none" dirty="0" smtClean="0">
                          <a:ln>
                            <a:noFill/>
                          </a:ln>
                          <a:latin typeface="맑은 고딕" pitchFamily="18"/>
                          <a:ea typeface="맑은 고딕" pitchFamily="2"/>
                          <a:cs typeface="Lucida Sans" pitchFamily="2"/>
                        </a:rPr>
                        <a:t>Aged, 50-80, &gt;=20PY smoking history</a:t>
                      </a:r>
                      <a:endParaRPr lang="en-US" dirty="0">
                        <a:solidFill>
                          <a:srgbClr val="000000"/>
                        </a:solidFill>
                        <a:latin typeface="Lucida Sans"/>
                        <a:ea typeface="맑은 고딕" pitchFamily="16"/>
                        <a:cs typeface="Lucida Sans" pitchFamily="16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849891"/>
                  </a:ext>
                </a:extLst>
              </a:tr>
              <a:tr h="1107720">
                <a:tc>
                  <a:txBody>
                    <a:bodyPr/>
                    <a:lstStyle/>
                    <a:p>
                      <a:pPr marL="0" marR="0" lvl="0" indent="0" algn="l">
                        <a:buNone/>
                      </a:pPr>
                      <a:r>
                        <a:rPr lang="en-US" altLang="ko-KR" sz="1800" b="0" i="0" u="none" strike="noStrike" kern="1200" cap="none" dirty="0" smtClean="0">
                          <a:ln>
                            <a:noFill/>
                          </a:ln>
                          <a:latin typeface="맑은 고딕" pitchFamily="18"/>
                          <a:ea typeface="맑은 고딕" pitchFamily="2"/>
                          <a:cs typeface="Lucida Sans" pitchFamily="2"/>
                        </a:rPr>
                        <a:t>Aged, 40-49, &gt;=20PY smoking history</a:t>
                      </a:r>
                      <a:endParaRPr lang="en-US" altLang="ko-KR" dirty="0">
                        <a:solidFill>
                          <a:srgbClr val="000000"/>
                        </a:solidFill>
                        <a:latin typeface="Lucida Sans"/>
                        <a:ea typeface="맑은 고딕" pitchFamily="16"/>
                        <a:cs typeface="Lucida Sans" pitchFamily="16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altLang="ko-KR" dirty="0">
                          <a:solidFill>
                            <a:srgbClr val="000000"/>
                          </a:solidFill>
                          <a:latin typeface="맑은 고딕"/>
                          <a:ea typeface="맑은 고딕" pitchFamily="16"/>
                        </a:rPr>
                        <a:t>&lt;0.001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8492991"/>
                  </a:ext>
                </a:extLst>
              </a:tr>
            </a:tbl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4170370" y="1348579"/>
            <a:ext cx="7830628" cy="435006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771328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80000" y="180000"/>
            <a:ext cx="7560000" cy="2219731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200" b="0" i="0" u="none" strike="noStrike" kern="1200" cap="none" dirty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Lung cancer </a:t>
            </a:r>
            <a:r>
              <a:rPr lang="en-US" sz="32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mortality(1.aged</a:t>
            </a:r>
            <a:r>
              <a:rPr lang="en-US" sz="3200" b="0" i="0" u="none" strike="noStrike" kern="1200" cap="none" dirty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, 50-80, &gt;=</a:t>
            </a:r>
            <a:r>
              <a:rPr lang="en-US" sz="32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20PY smoking history, 2.aged</a:t>
            </a:r>
            <a:r>
              <a:rPr lang="en-US" sz="3200" b="0" i="0" u="none" strike="noStrike" kern="1200" cap="none" dirty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, 40-49, &gt;=</a:t>
            </a:r>
            <a:r>
              <a:rPr lang="en-US" sz="32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20PY smoking history)</a:t>
            </a:r>
            <a:endParaRPr lang="en-US" sz="3200" b="0" i="0" u="none" strike="noStrike" kern="1200" cap="none" dirty="0">
              <a:ln>
                <a:noFill/>
              </a:ln>
              <a:latin typeface="맑은 고딕" pitchFamily="18"/>
              <a:ea typeface="맑은 고딕" pitchFamily="2"/>
              <a:cs typeface="Lucida Sans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192771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9808713"/>
              </p:ext>
            </p:extLst>
          </p:nvPr>
        </p:nvGraphicFramePr>
        <p:xfrm>
          <a:off x="386868" y="1960819"/>
          <a:ext cx="3944063" cy="2486489"/>
        </p:xfrm>
        <a:graphic>
          <a:graphicData uri="http://schemas.openxmlformats.org/drawingml/2006/table">
            <a:tbl>
              <a:tblPr firstRow="1" bandRow="1"/>
              <a:tblGrid>
                <a:gridCol w="1978542">
                  <a:extLst>
                    <a:ext uri="{9D8B030D-6E8A-4147-A177-3AD203B41FA5}">
                      <a16:colId xmlns:a16="http://schemas.microsoft.com/office/drawing/2014/main" val="3206827297"/>
                    </a:ext>
                  </a:extLst>
                </a:gridCol>
                <a:gridCol w="1965521">
                  <a:extLst>
                    <a:ext uri="{9D8B030D-6E8A-4147-A177-3AD203B41FA5}">
                      <a16:colId xmlns:a16="http://schemas.microsoft.com/office/drawing/2014/main" val="2166991033"/>
                    </a:ext>
                  </a:extLst>
                </a:gridCol>
              </a:tblGrid>
              <a:tr h="1283513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buNone/>
                      </a:pPr>
                      <a:r>
                        <a:rPr lang="en-US" altLang="ko-KR" sz="1800" b="0" i="0" u="none" strike="noStrike" kern="1200" cap="none" dirty="0" smtClean="0">
                          <a:ln>
                            <a:noFill/>
                          </a:ln>
                          <a:latin typeface="맑은 고딕" pitchFamily="18"/>
                          <a:ea typeface="맑은 고딕" pitchFamily="2"/>
                          <a:cs typeface="Lucida Sans" pitchFamily="2"/>
                        </a:rPr>
                        <a:t>Aged, 50-80, &gt;=20PY smoking history</a:t>
                      </a:r>
                      <a:endParaRPr lang="en-US" dirty="0">
                        <a:solidFill>
                          <a:srgbClr val="000000"/>
                        </a:solidFill>
                        <a:latin typeface="Lucida Sans"/>
                        <a:ea typeface="맑은 고딕" pitchFamily="16"/>
                        <a:cs typeface="Lucida Sans" pitchFamily="16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849891"/>
                  </a:ext>
                </a:extLst>
              </a:tr>
              <a:tr h="1202976">
                <a:tc>
                  <a:txBody>
                    <a:bodyPr/>
                    <a:lstStyle/>
                    <a:p>
                      <a:pPr marL="0" marR="0" lvl="0" indent="0" algn="l">
                        <a:buNone/>
                      </a:pPr>
                      <a:r>
                        <a:rPr lang="en-US" altLang="ko-KR" sz="1800" b="0" i="0" u="none" strike="noStrike" kern="1200" cap="none" dirty="0" smtClean="0">
                          <a:ln>
                            <a:noFill/>
                          </a:ln>
                          <a:latin typeface="맑은 고딕" pitchFamily="18"/>
                          <a:ea typeface="맑은 고딕" pitchFamily="2"/>
                          <a:cs typeface="Lucida Sans" pitchFamily="2"/>
                        </a:rPr>
                        <a:t>Aged, 40-49, &gt;=20PY</a:t>
                      </a:r>
                      <a:r>
                        <a:rPr lang="en-US" altLang="ko-KR" sz="1800" b="0" i="0" u="none" strike="noStrike" kern="1200" cap="none" baseline="0" dirty="0" smtClean="0">
                          <a:ln>
                            <a:noFill/>
                          </a:ln>
                          <a:latin typeface="맑은 고딕" pitchFamily="18"/>
                          <a:ea typeface="맑은 고딕" pitchFamily="2"/>
                          <a:cs typeface="Lucida Sans" pitchFamily="2"/>
                        </a:rPr>
                        <a:t> </a:t>
                      </a:r>
                      <a:r>
                        <a:rPr lang="en-US" altLang="ko-KR" sz="1800" b="0" i="0" u="none" strike="noStrike" kern="1200" cap="none" dirty="0" smtClean="0">
                          <a:ln>
                            <a:noFill/>
                          </a:ln>
                          <a:latin typeface="맑은 고딕" pitchFamily="18"/>
                          <a:ea typeface="맑은 고딕" pitchFamily="2"/>
                          <a:cs typeface="Lucida Sans" pitchFamily="2"/>
                        </a:rPr>
                        <a:t>smoking history  </a:t>
                      </a:r>
                      <a:endParaRPr lang="en-US" altLang="ko-KR" dirty="0">
                        <a:solidFill>
                          <a:srgbClr val="000000"/>
                        </a:solidFill>
                        <a:latin typeface="Lucida Sans"/>
                        <a:ea typeface="맑은 고딕" pitchFamily="16"/>
                        <a:cs typeface="Lucida Sans" pitchFamily="16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altLang="ko-KR" dirty="0">
                          <a:solidFill>
                            <a:srgbClr val="000000"/>
                          </a:solidFill>
                          <a:latin typeface="맑은 고딕"/>
                          <a:ea typeface="맑은 고딕" pitchFamily="16"/>
                        </a:rPr>
                        <a:t>&lt;0.001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8492991"/>
                  </a:ext>
                </a:extLst>
              </a:tr>
            </a:tbl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4533150" y="1395335"/>
            <a:ext cx="7528005" cy="41819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728675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80000" y="180000"/>
            <a:ext cx="7560000" cy="2219731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200" b="0" i="0" u="none" strike="noStrike" kern="1200" cap="none" dirty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All cause </a:t>
            </a:r>
            <a:r>
              <a:rPr lang="en-US" sz="32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mortality(1.aged</a:t>
            </a:r>
            <a:r>
              <a:rPr lang="en-US" sz="3200" b="0" i="0" u="none" strike="noStrike" kern="1200" cap="none" dirty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, 50-80, &lt;</a:t>
            </a:r>
            <a:r>
              <a:rPr lang="en-US" sz="32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20PY smoking history, 2.aged</a:t>
            </a:r>
            <a:r>
              <a:rPr lang="en-US" sz="3200" b="0" i="0" u="none" strike="noStrike" kern="1200" cap="none" dirty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, 40-49, &lt;</a:t>
            </a:r>
            <a:r>
              <a:rPr lang="en-US" sz="32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20PY smoking history)</a:t>
            </a:r>
            <a:endParaRPr lang="en-US" sz="3200" b="0" i="0" u="none" strike="noStrike" kern="1200" cap="none" dirty="0">
              <a:ln>
                <a:noFill/>
              </a:ln>
              <a:latin typeface="맑은 고딕" pitchFamily="18"/>
              <a:ea typeface="맑은 고딕" pitchFamily="2"/>
              <a:cs typeface="Lucida Sans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21954913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3989427"/>
              </p:ext>
            </p:extLst>
          </p:nvPr>
        </p:nvGraphicFramePr>
        <p:xfrm>
          <a:off x="403495" y="2309955"/>
          <a:ext cx="3619865" cy="2296440"/>
        </p:xfrm>
        <a:graphic>
          <a:graphicData uri="http://schemas.openxmlformats.org/drawingml/2006/table">
            <a:tbl>
              <a:tblPr firstRow="1" bandRow="1"/>
              <a:tblGrid>
                <a:gridCol w="1815908">
                  <a:extLst>
                    <a:ext uri="{9D8B030D-6E8A-4147-A177-3AD203B41FA5}">
                      <a16:colId xmlns:a16="http://schemas.microsoft.com/office/drawing/2014/main" val="3206827297"/>
                    </a:ext>
                  </a:extLst>
                </a:gridCol>
                <a:gridCol w="1803957">
                  <a:extLst>
                    <a:ext uri="{9D8B030D-6E8A-4147-A177-3AD203B41FA5}">
                      <a16:colId xmlns:a16="http://schemas.microsoft.com/office/drawing/2014/main" val="2166991033"/>
                    </a:ext>
                  </a:extLst>
                </a:gridCol>
              </a:tblGrid>
              <a:tr h="1181880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buNone/>
                      </a:pPr>
                      <a:r>
                        <a:rPr lang="en-US" altLang="ko-KR" sz="1800" b="0" i="0" u="none" strike="noStrike" kern="1200" cap="none" dirty="0" smtClean="0">
                          <a:ln>
                            <a:noFill/>
                          </a:ln>
                          <a:latin typeface="맑은 고딕" pitchFamily="18"/>
                          <a:ea typeface="맑은 고딕" pitchFamily="2"/>
                          <a:cs typeface="Lucida Sans" pitchFamily="2"/>
                        </a:rPr>
                        <a:t>Aged, 50-80, &lt;20PY</a:t>
                      </a:r>
                      <a:r>
                        <a:rPr lang="en-US" altLang="ko-KR" sz="1800" b="0" i="0" u="none" strike="noStrike" kern="1200" cap="none" baseline="0" dirty="0" smtClean="0">
                          <a:ln>
                            <a:noFill/>
                          </a:ln>
                          <a:latin typeface="맑은 고딕" pitchFamily="18"/>
                          <a:ea typeface="맑은 고딕" pitchFamily="2"/>
                          <a:cs typeface="Lucida Sans" pitchFamily="2"/>
                        </a:rPr>
                        <a:t> </a:t>
                      </a:r>
                      <a:r>
                        <a:rPr lang="en-US" altLang="ko-KR" sz="1800" b="0" i="0" u="none" strike="noStrike" kern="1200" cap="none" dirty="0" smtClean="0">
                          <a:ln>
                            <a:noFill/>
                          </a:ln>
                          <a:latin typeface="맑은 고딕" pitchFamily="18"/>
                          <a:ea typeface="맑은 고딕" pitchFamily="2"/>
                          <a:cs typeface="Lucida Sans" pitchFamily="2"/>
                        </a:rPr>
                        <a:t>smoking history </a:t>
                      </a:r>
                      <a:endParaRPr lang="en-US" dirty="0">
                        <a:solidFill>
                          <a:srgbClr val="000000"/>
                        </a:solidFill>
                        <a:latin typeface="Lucida Sans"/>
                        <a:ea typeface="맑은 고딕" pitchFamily="16"/>
                        <a:cs typeface="Lucida Sans" pitchFamily="16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849891"/>
                  </a:ext>
                </a:extLst>
              </a:tr>
              <a:tr h="1107720">
                <a:tc>
                  <a:txBody>
                    <a:bodyPr/>
                    <a:lstStyle/>
                    <a:p>
                      <a:pPr marL="0" marR="0" lvl="0" indent="0" algn="l">
                        <a:buNone/>
                      </a:pPr>
                      <a:r>
                        <a:rPr lang="en-US" altLang="ko-KR" sz="1800" b="0" i="0" u="none" strike="noStrike" kern="1200" cap="none" dirty="0" smtClean="0">
                          <a:ln>
                            <a:noFill/>
                          </a:ln>
                          <a:latin typeface="맑은 고딕" pitchFamily="18"/>
                          <a:ea typeface="맑은 고딕" pitchFamily="2"/>
                          <a:cs typeface="Lucida Sans" pitchFamily="2"/>
                        </a:rPr>
                        <a:t>Aged, 40-49, &lt;20PY smoking history</a:t>
                      </a:r>
                      <a:endParaRPr lang="en-US" altLang="ko-KR" dirty="0">
                        <a:solidFill>
                          <a:srgbClr val="000000"/>
                        </a:solidFill>
                        <a:latin typeface="Lucida Sans"/>
                        <a:ea typeface="맑은 고딕" pitchFamily="16"/>
                        <a:cs typeface="Lucida Sans" pitchFamily="16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altLang="ko-KR" dirty="0">
                          <a:solidFill>
                            <a:srgbClr val="000000"/>
                          </a:solidFill>
                          <a:latin typeface="맑은 고딕"/>
                          <a:ea typeface="맑은 고딕" pitchFamily="16"/>
                        </a:rPr>
                        <a:t>&lt;0.001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8492991"/>
                  </a:ext>
                </a:extLst>
              </a:tr>
            </a:tbl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4155950" y="1383632"/>
            <a:ext cx="7592385" cy="42177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83668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63127" y="163375"/>
            <a:ext cx="7560000" cy="2219731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200" b="0" i="0" u="none" strike="noStrike" kern="1200" cap="none" dirty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Lung cancer </a:t>
            </a:r>
            <a:r>
              <a:rPr lang="en-US" sz="32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mortality(1.aged</a:t>
            </a:r>
            <a:r>
              <a:rPr lang="en-US" sz="3200" b="0" i="0" u="none" strike="noStrike" kern="1200" cap="none" dirty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, 50-80, &lt;</a:t>
            </a:r>
            <a:r>
              <a:rPr lang="en-US" sz="32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20PY smoking history, 2.aged</a:t>
            </a:r>
            <a:r>
              <a:rPr lang="en-US" sz="3200" b="0" i="0" u="none" strike="noStrike" kern="1200" cap="none" dirty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, 40-49, &lt;</a:t>
            </a:r>
            <a:r>
              <a:rPr lang="en-US" sz="32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20PY smoking history,</a:t>
            </a:r>
            <a:endParaRPr lang="en-US" sz="3200" b="0" i="0" u="none" strike="noStrike" kern="1200" cap="none" dirty="0">
              <a:ln>
                <a:noFill/>
              </a:ln>
              <a:latin typeface="맑은 고딕" pitchFamily="18"/>
              <a:ea typeface="맑은 고딕" pitchFamily="2"/>
              <a:cs typeface="Lucida Sans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1121712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1054425"/>
              </p:ext>
            </p:extLst>
          </p:nvPr>
        </p:nvGraphicFramePr>
        <p:xfrm>
          <a:off x="453372" y="2376458"/>
          <a:ext cx="2789361" cy="2377440"/>
        </p:xfrm>
        <a:graphic>
          <a:graphicData uri="http://schemas.openxmlformats.org/drawingml/2006/table">
            <a:tbl>
              <a:tblPr firstRow="1" bandRow="1"/>
              <a:tblGrid>
                <a:gridCol w="1399285">
                  <a:extLst>
                    <a:ext uri="{9D8B030D-6E8A-4147-A177-3AD203B41FA5}">
                      <a16:colId xmlns:a16="http://schemas.microsoft.com/office/drawing/2014/main" val="3206827297"/>
                    </a:ext>
                  </a:extLst>
                </a:gridCol>
                <a:gridCol w="1390076">
                  <a:extLst>
                    <a:ext uri="{9D8B030D-6E8A-4147-A177-3AD203B41FA5}">
                      <a16:colId xmlns:a16="http://schemas.microsoft.com/office/drawing/2014/main" val="2166991033"/>
                    </a:ext>
                  </a:extLst>
                </a:gridCol>
              </a:tblGrid>
              <a:tr h="1181880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buNone/>
                      </a:pPr>
                      <a:r>
                        <a:rPr lang="en-US" altLang="ko-KR" sz="1800" b="0" i="0" u="none" strike="noStrike" kern="1200" cap="none" dirty="0" smtClean="0">
                          <a:ln>
                            <a:noFill/>
                          </a:ln>
                          <a:latin typeface="맑은 고딕" pitchFamily="18"/>
                          <a:ea typeface="맑은 고딕" pitchFamily="2"/>
                          <a:cs typeface="Lucida Sans" pitchFamily="2"/>
                        </a:rPr>
                        <a:t>Aged, 50-80, &lt;20PY</a:t>
                      </a:r>
                      <a:r>
                        <a:rPr lang="en-US" altLang="ko-KR" sz="1800" b="0" i="0" u="none" strike="noStrike" kern="1200" cap="none" baseline="0" dirty="0" smtClean="0">
                          <a:ln>
                            <a:noFill/>
                          </a:ln>
                          <a:latin typeface="맑은 고딕" pitchFamily="18"/>
                          <a:ea typeface="맑은 고딕" pitchFamily="2"/>
                          <a:cs typeface="Lucida Sans" pitchFamily="2"/>
                        </a:rPr>
                        <a:t> smoking history</a:t>
                      </a:r>
                      <a:endParaRPr lang="en-US" dirty="0">
                        <a:solidFill>
                          <a:srgbClr val="000000"/>
                        </a:solidFill>
                        <a:latin typeface="Lucida Sans"/>
                        <a:ea typeface="맑은 고딕" pitchFamily="16"/>
                        <a:cs typeface="Lucida Sans" pitchFamily="16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849891"/>
                  </a:ext>
                </a:extLst>
              </a:tr>
              <a:tr h="1107720">
                <a:tc>
                  <a:txBody>
                    <a:bodyPr/>
                    <a:lstStyle/>
                    <a:p>
                      <a:pPr marL="0" marR="0" lvl="0" indent="0" algn="l">
                        <a:buNone/>
                      </a:pPr>
                      <a:r>
                        <a:rPr lang="en-US" altLang="ko-KR" sz="1800" b="0" i="0" u="none" strike="noStrike" kern="1200" cap="none" dirty="0" smtClean="0">
                          <a:ln>
                            <a:noFill/>
                          </a:ln>
                          <a:latin typeface="맑은 고딕" pitchFamily="18"/>
                          <a:ea typeface="맑은 고딕" pitchFamily="2"/>
                          <a:cs typeface="Lucida Sans" pitchFamily="2"/>
                        </a:rPr>
                        <a:t>Aged, 40-49, &lt;20PY</a:t>
                      </a:r>
                      <a:r>
                        <a:rPr lang="en-US" altLang="ko-KR" sz="1800" b="0" i="0" u="none" strike="noStrike" kern="1200" cap="none" baseline="0" dirty="0" smtClean="0">
                          <a:ln>
                            <a:noFill/>
                          </a:ln>
                          <a:latin typeface="맑은 고딕" pitchFamily="18"/>
                          <a:ea typeface="맑은 고딕" pitchFamily="2"/>
                          <a:cs typeface="Lucida Sans" pitchFamily="2"/>
                        </a:rPr>
                        <a:t> smoking history</a:t>
                      </a:r>
                      <a:endParaRPr lang="en-US" altLang="ko-KR" dirty="0">
                        <a:solidFill>
                          <a:srgbClr val="000000"/>
                        </a:solidFill>
                        <a:latin typeface="Lucida Sans"/>
                        <a:ea typeface="맑은 고딕" pitchFamily="16"/>
                        <a:cs typeface="Lucida Sans" pitchFamily="16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altLang="ko-KR" dirty="0">
                          <a:solidFill>
                            <a:srgbClr val="000000"/>
                          </a:solidFill>
                          <a:latin typeface="맑은 고딕"/>
                          <a:ea typeface="맑은 고딕" pitchFamily="16"/>
                        </a:rPr>
                        <a:t>&lt;0.001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8492991"/>
                  </a:ext>
                </a:extLst>
              </a:tr>
            </a:tbl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3811820" y="1624262"/>
            <a:ext cx="7960578" cy="44222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67081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80000" y="180000"/>
            <a:ext cx="7560000" cy="1510114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200" b="0" i="0" u="none" strike="noStrike" kern="1200" cap="none" dirty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All cause </a:t>
            </a:r>
            <a:r>
              <a:rPr lang="en-US" sz="32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mortality(1.aged</a:t>
            </a:r>
            <a:r>
              <a:rPr lang="en-US" sz="3200" b="0" i="0" u="none" strike="noStrike" kern="1200" cap="none" dirty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, 50-80, </a:t>
            </a:r>
            <a:r>
              <a:rPr lang="en-US" sz="3200" dirty="0" smtClean="0">
                <a:latin typeface="맑은 고딕" pitchFamily="18"/>
                <a:ea typeface="맑은 고딕" pitchFamily="2"/>
                <a:cs typeface="Lucida Sans" pitchFamily="2"/>
              </a:rPr>
              <a:t>never smoked</a:t>
            </a:r>
            <a:r>
              <a:rPr lang="en-US" sz="32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, 2.aged </a:t>
            </a:r>
            <a:r>
              <a:rPr lang="en-US" sz="3200" b="0" i="0" u="none" strike="noStrike" kern="1200" cap="none" dirty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40-49 </a:t>
            </a:r>
            <a:r>
              <a:rPr lang="en-US" sz="32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never smoked)</a:t>
            </a:r>
            <a:endParaRPr lang="en-US" sz="3200" b="0" i="0" u="none" strike="noStrike" kern="1200" cap="none" dirty="0">
              <a:ln>
                <a:noFill/>
              </a:ln>
              <a:latin typeface="맑은 고딕" pitchFamily="18"/>
              <a:ea typeface="맑은 고딕" pitchFamily="2"/>
              <a:cs typeface="Lucida Sans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1302248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5750577"/>
              </p:ext>
            </p:extLst>
          </p:nvPr>
        </p:nvGraphicFramePr>
        <p:xfrm>
          <a:off x="253867" y="2309956"/>
          <a:ext cx="2863406" cy="2289600"/>
        </p:xfrm>
        <a:graphic>
          <a:graphicData uri="http://schemas.openxmlformats.org/drawingml/2006/table">
            <a:tbl>
              <a:tblPr firstRow="1" bandRow="1"/>
              <a:tblGrid>
                <a:gridCol w="1436429">
                  <a:extLst>
                    <a:ext uri="{9D8B030D-6E8A-4147-A177-3AD203B41FA5}">
                      <a16:colId xmlns:a16="http://schemas.microsoft.com/office/drawing/2014/main" val="3206827297"/>
                    </a:ext>
                  </a:extLst>
                </a:gridCol>
                <a:gridCol w="1426977">
                  <a:extLst>
                    <a:ext uri="{9D8B030D-6E8A-4147-A177-3AD203B41FA5}">
                      <a16:colId xmlns:a16="http://schemas.microsoft.com/office/drawing/2014/main" val="2166991033"/>
                    </a:ext>
                  </a:extLst>
                </a:gridCol>
              </a:tblGrid>
              <a:tr h="1181880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buNone/>
                      </a:pPr>
                      <a:r>
                        <a:rPr lang="en-US" altLang="ko-KR" sz="1800" b="0" i="0" u="none" strike="noStrike" kern="1200" cap="none" dirty="0" smtClean="0">
                          <a:ln>
                            <a:noFill/>
                          </a:ln>
                          <a:latin typeface="맑은 고딕" pitchFamily="18"/>
                          <a:ea typeface="맑은 고딕" pitchFamily="2"/>
                          <a:cs typeface="Lucida Sans" pitchFamily="2"/>
                        </a:rPr>
                        <a:t>Aged, 50-80, never smoked</a:t>
                      </a:r>
                      <a:endParaRPr lang="en-US" dirty="0">
                        <a:solidFill>
                          <a:srgbClr val="000000"/>
                        </a:solidFill>
                        <a:latin typeface="Lucida Sans"/>
                        <a:ea typeface="맑은 고딕" pitchFamily="16"/>
                        <a:cs typeface="Lucida Sans" pitchFamily="16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849891"/>
                  </a:ext>
                </a:extLst>
              </a:tr>
              <a:tr h="1107720">
                <a:tc>
                  <a:txBody>
                    <a:bodyPr/>
                    <a:lstStyle/>
                    <a:p>
                      <a:pPr marL="0" marR="0" lvl="0" indent="0" algn="l">
                        <a:buNone/>
                      </a:pPr>
                      <a:r>
                        <a:rPr lang="en-US" altLang="ko-KR" sz="1800" b="0" i="0" u="none" strike="noStrike" kern="1200" cap="none" dirty="0" smtClean="0">
                          <a:ln>
                            <a:noFill/>
                          </a:ln>
                          <a:latin typeface="맑은 고딕" pitchFamily="18"/>
                          <a:ea typeface="맑은 고딕" pitchFamily="2"/>
                          <a:cs typeface="Lucida Sans" pitchFamily="2"/>
                        </a:rPr>
                        <a:t>Aged, 40-49, never smoked</a:t>
                      </a:r>
                      <a:endParaRPr lang="en-US" altLang="ko-KR" dirty="0">
                        <a:solidFill>
                          <a:srgbClr val="000000"/>
                        </a:solidFill>
                        <a:latin typeface="Lucida Sans"/>
                        <a:ea typeface="맑은 고딕" pitchFamily="16"/>
                        <a:cs typeface="Lucida Sans" pitchFamily="16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altLang="ko-KR" dirty="0">
                          <a:solidFill>
                            <a:srgbClr val="000000"/>
                          </a:solidFill>
                          <a:latin typeface="맑은 고딕"/>
                          <a:ea typeface="맑은 고딕" pitchFamily="16"/>
                        </a:rPr>
                        <a:t>&lt;0.001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8492991"/>
                  </a:ext>
                </a:extLst>
              </a:tr>
            </a:tbl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3530291" y="1419726"/>
            <a:ext cx="7808970" cy="43380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678750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80000" y="180000"/>
            <a:ext cx="7560000" cy="2219731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200" b="0" i="0" u="none" strike="noStrike" kern="1200" cap="none" dirty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Lung cancer </a:t>
            </a:r>
            <a:r>
              <a:rPr lang="en-US" sz="32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mortality(1.aged</a:t>
            </a:r>
            <a:r>
              <a:rPr lang="en-US" sz="3200" b="0" i="0" u="none" strike="noStrike" kern="1200" cap="none" dirty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, 50-80, </a:t>
            </a:r>
            <a:r>
              <a:rPr lang="en-US" sz="3200" dirty="0" smtClean="0">
                <a:latin typeface="맑은 고딕" pitchFamily="18"/>
                <a:ea typeface="맑은 고딕" pitchFamily="2"/>
                <a:cs typeface="Lucida Sans" pitchFamily="2"/>
              </a:rPr>
              <a:t>never smoked</a:t>
            </a:r>
            <a:r>
              <a:rPr lang="en-US" sz="32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, 2.aged </a:t>
            </a:r>
            <a:r>
              <a:rPr lang="en-US" sz="3200" b="0" i="0" u="none" strike="noStrike" kern="1200" cap="none" dirty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40-49 </a:t>
            </a:r>
            <a:r>
              <a:rPr lang="en-US" sz="32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never smoked)</a:t>
            </a:r>
            <a:endParaRPr lang="en-US" sz="3200" b="0" i="0" u="none" strike="noStrike" kern="1200" cap="none" dirty="0">
              <a:ln>
                <a:noFill/>
              </a:ln>
              <a:latin typeface="맑은 고딕" pitchFamily="18"/>
              <a:ea typeface="맑은 고딕" pitchFamily="2"/>
              <a:cs typeface="Lucida Sans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40958950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1626400"/>
              </p:ext>
            </p:extLst>
          </p:nvPr>
        </p:nvGraphicFramePr>
        <p:xfrm>
          <a:off x="345307" y="2293331"/>
          <a:ext cx="3727930" cy="2289600"/>
        </p:xfrm>
        <a:graphic>
          <a:graphicData uri="http://schemas.openxmlformats.org/drawingml/2006/table">
            <a:tbl>
              <a:tblPr firstRow="1" bandRow="1"/>
              <a:tblGrid>
                <a:gridCol w="1870119">
                  <a:extLst>
                    <a:ext uri="{9D8B030D-6E8A-4147-A177-3AD203B41FA5}">
                      <a16:colId xmlns:a16="http://schemas.microsoft.com/office/drawing/2014/main" val="3206827297"/>
                    </a:ext>
                  </a:extLst>
                </a:gridCol>
                <a:gridCol w="1857811">
                  <a:extLst>
                    <a:ext uri="{9D8B030D-6E8A-4147-A177-3AD203B41FA5}">
                      <a16:colId xmlns:a16="http://schemas.microsoft.com/office/drawing/2014/main" val="2166991033"/>
                    </a:ext>
                  </a:extLst>
                </a:gridCol>
              </a:tblGrid>
              <a:tr h="1181880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buNone/>
                      </a:pPr>
                      <a:r>
                        <a:rPr lang="en-US" altLang="ko-KR" sz="1800" b="0" i="0" u="none" strike="noStrike" kern="1200" cap="none" dirty="0" smtClean="0">
                          <a:ln>
                            <a:noFill/>
                          </a:ln>
                          <a:latin typeface="맑은 고딕" pitchFamily="18"/>
                          <a:ea typeface="맑은 고딕" pitchFamily="2"/>
                          <a:cs typeface="Lucida Sans" pitchFamily="2"/>
                        </a:rPr>
                        <a:t>Aged, 50-80, never smoked</a:t>
                      </a:r>
                      <a:endParaRPr lang="en-US" dirty="0">
                        <a:solidFill>
                          <a:srgbClr val="000000"/>
                        </a:solidFill>
                        <a:latin typeface="Lucida Sans"/>
                        <a:ea typeface="맑은 고딕" pitchFamily="16"/>
                        <a:cs typeface="Lucida Sans" pitchFamily="16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849891"/>
                  </a:ext>
                </a:extLst>
              </a:tr>
              <a:tr h="1107720">
                <a:tc>
                  <a:txBody>
                    <a:bodyPr/>
                    <a:lstStyle/>
                    <a:p>
                      <a:pPr marL="0" marR="0" lvl="0" indent="0" algn="l">
                        <a:buNone/>
                      </a:pPr>
                      <a:r>
                        <a:rPr lang="en-US" altLang="ko-KR" sz="1800" b="0" i="0" u="none" strike="noStrike" kern="1200" cap="none" dirty="0" smtClean="0">
                          <a:ln>
                            <a:noFill/>
                          </a:ln>
                          <a:latin typeface="맑은 고딕" pitchFamily="18"/>
                          <a:ea typeface="맑은 고딕" pitchFamily="2"/>
                          <a:cs typeface="Lucida Sans" pitchFamily="2"/>
                        </a:rPr>
                        <a:t>Aged, 40-49, never smoked</a:t>
                      </a:r>
                      <a:endParaRPr lang="en-US" altLang="ko-KR" dirty="0">
                        <a:solidFill>
                          <a:srgbClr val="000000"/>
                        </a:solidFill>
                        <a:latin typeface="Lucida Sans"/>
                        <a:ea typeface="맑은 고딕" pitchFamily="16"/>
                        <a:cs typeface="Lucida Sans" pitchFamily="16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altLang="ko-KR" dirty="0">
                          <a:solidFill>
                            <a:srgbClr val="000000"/>
                          </a:solidFill>
                          <a:latin typeface="맑은 고딕"/>
                          <a:ea typeface="맑은 고딕" pitchFamily="16"/>
                        </a:rPr>
                        <a:t>&lt;0.001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8492991"/>
                  </a:ext>
                </a:extLst>
              </a:tr>
            </a:tbl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4298514" y="1395663"/>
            <a:ext cx="7893486" cy="438498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829363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79999" y="180000"/>
            <a:ext cx="7650589" cy="1510114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200" b="0" i="0" u="none" strike="noStrike" kern="1200" cap="none" dirty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All cause </a:t>
            </a:r>
            <a:r>
              <a:rPr lang="en-US" sz="32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mortality(1.Included </a:t>
            </a:r>
            <a:r>
              <a:rPr lang="en-US" sz="3200" b="0" i="0" u="none" strike="noStrike" kern="1200" cap="none" dirty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 the analysis, </a:t>
            </a:r>
            <a:r>
              <a:rPr lang="en-US" sz="32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2.Excluded </a:t>
            </a:r>
            <a:r>
              <a:rPr lang="en-US" sz="3200" b="0" i="0" u="none" strike="noStrike" kern="1200" cap="none" dirty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from the analysis)</a:t>
            </a:r>
          </a:p>
        </p:txBody>
      </p:sp>
    </p:spTree>
    <p:extLst>
      <p:ext uri="{BB962C8B-B14F-4D97-AF65-F5344CB8AC3E}">
        <p14:creationId xmlns:p14="http://schemas.microsoft.com/office/powerpoint/2010/main" val="28432470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/>
          <p:cNvGraphicFramePr>
            <a:graphicFrameLocks noGrp="1"/>
          </p:cNvGraphicFramePr>
          <p:nvPr>
            <p:extLst/>
          </p:nvPr>
        </p:nvGraphicFramePr>
        <p:xfrm>
          <a:off x="569748" y="2384770"/>
          <a:ext cx="2622339" cy="2289600"/>
        </p:xfrm>
        <a:graphic>
          <a:graphicData uri="http://schemas.openxmlformats.org/drawingml/2006/table">
            <a:tbl>
              <a:tblPr firstRow="1" bandRow="1"/>
              <a:tblGrid>
                <a:gridCol w="1315498">
                  <a:extLst>
                    <a:ext uri="{9D8B030D-6E8A-4147-A177-3AD203B41FA5}">
                      <a16:colId xmlns:a16="http://schemas.microsoft.com/office/drawing/2014/main" val="3206827297"/>
                    </a:ext>
                  </a:extLst>
                </a:gridCol>
                <a:gridCol w="1306841">
                  <a:extLst>
                    <a:ext uri="{9D8B030D-6E8A-4147-A177-3AD203B41FA5}">
                      <a16:colId xmlns:a16="http://schemas.microsoft.com/office/drawing/2014/main" val="2166991033"/>
                    </a:ext>
                  </a:extLst>
                </a:gridCol>
              </a:tblGrid>
              <a:tr h="1181880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buNone/>
                      </a:pPr>
                      <a:r>
                        <a:rPr lang="en-US" altLang="ko-KR" sz="1800" b="0" i="0" u="none" strike="noStrike" kern="1200" cap="none" dirty="0" smtClean="0">
                          <a:ln>
                            <a:noFill/>
                          </a:ln>
                          <a:latin typeface="맑은 고딕" pitchFamily="18"/>
                          <a:ea typeface="맑은 고딕" pitchFamily="2"/>
                          <a:cs typeface="Lucida Sans" pitchFamily="2"/>
                        </a:rPr>
                        <a:t>Included in the analysis</a:t>
                      </a:r>
                      <a:endParaRPr lang="en-US" dirty="0">
                        <a:solidFill>
                          <a:srgbClr val="000000"/>
                        </a:solidFill>
                        <a:latin typeface="Lucida Sans"/>
                        <a:ea typeface="맑은 고딕" pitchFamily="16"/>
                        <a:cs typeface="Lucida Sans" pitchFamily="16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849891"/>
                  </a:ext>
                </a:extLst>
              </a:tr>
              <a:tr h="1107720">
                <a:tc>
                  <a:txBody>
                    <a:bodyPr/>
                    <a:lstStyle/>
                    <a:p>
                      <a:pPr marL="0" marR="0" lvl="0" indent="0" algn="l">
                        <a:buNone/>
                      </a:pPr>
                      <a:r>
                        <a:rPr lang="en-US" altLang="ko-KR" sz="1800" b="0" i="0" u="none" strike="noStrike" kern="1200" cap="none" dirty="0" smtClean="0">
                          <a:ln>
                            <a:noFill/>
                          </a:ln>
                          <a:latin typeface="맑은 고딕" pitchFamily="18"/>
                          <a:ea typeface="맑은 고딕" pitchFamily="2"/>
                          <a:cs typeface="Lucida Sans" pitchFamily="2"/>
                        </a:rPr>
                        <a:t>Excluded from the analysis</a:t>
                      </a:r>
                      <a:endParaRPr lang="en-US" altLang="ko-KR" dirty="0">
                        <a:solidFill>
                          <a:srgbClr val="000000"/>
                        </a:solidFill>
                        <a:latin typeface="Lucida Sans"/>
                        <a:ea typeface="맑은 고딕" pitchFamily="16"/>
                        <a:cs typeface="Lucida Sans" pitchFamily="16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altLang="ko-KR" dirty="0">
                          <a:solidFill>
                            <a:srgbClr val="000000"/>
                          </a:solidFill>
                          <a:latin typeface="맑은 고딕"/>
                          <a:ea typeface="맑은 고딕" pitchFamily="16"/>
                        </a:rPr>
                        <a:t>&lt;0.001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8492991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3421959" y="1149998"/>
            <a:ext cx="8567008" cy="47591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213680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80000" y="179999"/>
            <a:ext cx="9080378" cy="1510114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2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Lung cancer mortality(1.Included </a:t>
            </a:r>
            <a:r>
              <a:rPr lang="en-US" sz="3200" b="0" i="0" u="none" strike="noStrike" kern="1200" cap="none" dirty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 the analysis, </a:t>
            </a:r>
            <a:r>
              <a:rPr lang="en-US" sz="32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2.Excluded </a:t>
            </a:r>
            <a:r>
              <a:rPr lang="en-US" sz="3200" b="0" i="0" u="none" strike="noStrike" kern="1200" cap="none" dirty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from the analysis)</a:t>
            </a:r>
          </a:p>
        </p:txBody>
      </p:sp>
    </p:spTree>
    <p:extLst>
      <p:ext uri="{BB962C8B-B14F-4D97-AF65-F5344CB8AC3E}">
        <p14:creationId xmlns:p14="http://schemas.microsoft.com/office/powerpoint/2010/main" val="23486641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/>
          <p:cNvGraphicFramePr>
            <a:graphicFrameLocks noGrp="1"/>
          </p:cNvGraphicFramePr>
          <p:nvPr>
            <p:extLst/>
          </p:nvPr>
        </p:nvGraphicFramePr>
        <p:xfrm>
          <a:off x="278804" y="2509461"/>
          <a:ext cx="3029662" cy="2289600"/>
        </p:xfrm>
        <a:graphic>
          <a:graphicData uri="http://schemas.openxmlformats.org/drawingml/2006/table">
            <a:tbl>
              <a:tblPr firstRow="1" bandRow="1"/>
              <a:tblGrid>
                <a:gridCol w="1519832">
                  <a:extLst>
                    <a:ext uri="{9D8B030D-6E8A-4147-A177-3AD203B41FA5}">
                      <a16:colId xmlns:a16="http://schemas.microsoft.com/office/drawing/2014/main" val="3206827297"/>
                    </a:ext>
                  </a:extLst>
                </a:gridCol>
                <a:gridCol w="1509830">
                  <a:extLst>
                    <a:ext uri="{9D8B030D-6E8A-4147-A177-3AD203B41FA5}">
                      <a16:colId xmlns:a16="http://schemas.microsoft.com/office/drawing/2014/main" val="2166991033"/>
                    </a:ext>
                  </a:extLst>
                </a:gridCol>
              </a:tblGrid>
              <a:tr h="1181880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buNone/>
                      </a:pPr>
                      <a:r>
                        <a:rPr lang="en-US" altLang="ko-KR" sz="1800" b="0" i="0" u="none" strike="noStrike" kern="1200" cap="none" dirty="0" smtClean="0">
                          <a:ln>
                            <a:noFill/>
                          </a:ln>
                          <a:latin typeface="맑은 고딕" pitchFamily="18"/>
                          <a:ea typeface="맑은 고딕" pitchFamily="2"/>
                          <a:cs typeface="Lucida Sans" pitchFamily="2"/>
                        </a:rPr>
                        <a:t>Included in the analysis</a:t>
                      </a:r>
                      <a:endParaRPr lang="en-US" dirty="0">
                        <a:solidFill>
                          <a:srgbClr val="000000"/>
                        </a:solidFill>
                        <a:latin typeface="Lucida Sans"/>
                        <a:ea typeface="맑은 고딕" pitchFamily="16"/>
                        <a:cs typeface="Lucida Sans" pitchFamily="16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849891"/>
                  </a:ext>
                </a:extLst>
              </a:tr>
              <a:tr h="1107720">
                <a:tc>
                  <a:txBody>
                    <a:bodyPr/>
                    <a:lstStyle/>
                    <a:p>
                      <a:pPr marL="0" marR="0" lvl="0" indent="0" algn="l">
                        <a:buNone/>
                      </a:pPr>
                      <a:r>
                        <a:rPr lang="en-US" altLang="ko-KR" sz="1800" b="0" i="0" u="none" strike="noStrike" kern="1200" cap="none" dirty="0" smtClean="0">
                          <a:ln>
                            <a:noFill/>
                          </a:ln>
                          <a:latin typeface="맑은 고딕" pitchFamily="18"/>
                          <a:ea typeface="맑은 고딕" pitchFamily="2"/>
                          <a:cs typeface="Lucida Sans" pitchFamily="2"/>
                        </a:rPr>
                        <a:t>Excluded from the analysis</a:t>
                      </a:r>
                      <a:endParaRPr lang="en-US" altLang="ko-KR" dirty="0">
                        <a:solidFill>
                          <a:srgbClr val="000000"/>
                        </a:solidFill>
                        <a:latin typeface="Lucida Sans"/>
                        <a:ea typeface="맑은 고딕" pitchFamily="16"/>
                        <a:cs typeface="Lucida Sans" pitchFamily="16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altLang="ko-KR" dirty="0">
                          <a:solidFill>
                            <a:srgbClr val="000000"/>
                          </a:solidFill>
                          <a:latin typeface="맑은 고딕"/>
                          <a:ea typeface="맑은 고딕" pitchFamily="16"/>
                        </a:rPr>
                        <a:t>&lt;0.001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8492991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3563949" y="1191126"/>
            <a:ext cx="8328766" cy="462679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717158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455</Words>
  <Application>Microsoft Office PowerPoint</Application>
  <PresentationFormat>와이드스크린</PresentationFormat>
  <Paragraphs>58</Paragraphs>
  <Slides>24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8" baseType="lpstr">
      <vt:lpstr>맑은 고딕</vt:lpstr>
      <vt:lpstr>Arial</vt:lpstr>
      <vt:lpstr>Lucida Sans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Windows 사용자</cp:lastModifiedBy>
  <cp:revision>188</cp:revision>
  <dcterms:created xsi:type="dcterms:W3CDTF">2025-08-05T05:49:18Z</dcterms:created>
  <dcterms:modified xsi:type="dcterms:W3CDTF">2025-11-25T06:23:03Z</dcterms:modified>
</cp:coreProperties>
</file>